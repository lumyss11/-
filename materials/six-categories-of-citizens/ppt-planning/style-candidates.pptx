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85775"/>
            <a:ext cx="514350" cy="47625"/>
          </a:xfrm>
          <a:prstGeom prst="rect">
            <a:avLst/>
          </a:prstGeom>
          <a:solidFill>
            <a:srgbClr val="2456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85875" y="342900"/>
            <a:ext cx="48034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75" dirty="0">
                <a:solidFill>
                  <a:srgbClr val="426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 · 比较公共管理 · 文献组会汇报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609600" y="1400175"/>
            <a:ext cx="4352696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25"/>
              </a:lnSpc>
              <a:buNone/>
            </a:pPr>
            <a:r>
              <a:rPr lang="en-US" sz="4875" b="1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公务人员如何</a:t>
            </a:r>
            <a:endParaRPr lang="en-US" sz="4875" dirty="0"/>
          </a:p>
          <a:p>
            <a:pPr algn="l" indent="0" marL="0">
              <a:lnSpc>
                <a:spcPts val="6825"/>
              </a:lnSpc>
              <a:buNone/>
            </a:pPr>
            <a:r>
              <a:rPr lang="en-US" sz="4875" b="1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“看见”公民？</a:t>
            </a:r>
            <a:endParaRPr lang="en-US" sz="4875" dirty="0"/>
          </a:p>
        </p:txBody>
      </p:sp>
      <p:sp>
        <p:nvSpPr>
          <p:cNvPr id="6" name="Text 4"/>
          <p:cNvSpPr/>
          <p:nvPr/>
        </p:nvSpPr>
        <p:spPr>
          <a:xfrm>
            <a:off x="647700" y="3352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344B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内隐公民理论：文献解读与比较拓展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647700" y="4362450"/>
            <a:ext cx="47625" cy="400050"/>
          </a:xfrm>
          <a:prstGeom prst="rect">
            <a:avLst/>
          </a:prstGeom>
          <a:solidFill>
            <a:srgbClr val="8D9E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6775" y="4333875"/>
            <a:ext cx="408066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100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六个认知原型，而非六类互斥的人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934450" y="1657350"/>
            <a:ext cx="2628900" cy="9525"/>
          </a:xfrm>
          <a:prstGeom prst="rect">
            <a:avLst/>
          </a:prstGeom>
          <a:solidFill>
            <a:srgbClr val="CFDB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086850" y="1743075"/>
            <a:ext cx="1094815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1875" dirty="0">
                <a:solidFill>
                  <a:srgbClr val="6379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Kindness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8934450" y="2200275"/>
            <a:ext cx="2628900" cy="9525"/>
          </a:xfrm>
          <a:prstGeom prst="rect">
            <a:avLst/>
          </a:prstGeom>
          <a:solidFill>
            <a:srgbClr val="CFDB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086850" y="2286000"/>
            <a:ext cx="147174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1875" dirty="0">
                <a:solidFill>
                  <a:srgbClr val="6379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8934450" y="2743200"/>
            <a:ext cx="2628900" cy="9525"/>
          </a:xfrm>
          <a:prstGeom prst="rect">
            <a:avLst/>
          </a:prstGeom>
          <a:solidFill>
            <a:srgbClr val="CFDB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086850" y="2828925"/>
            <a:ext cx="143000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1875" dirty="0">
                <a:solidFill>
                  <a:srgbClr val="6379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Foreignness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8934450" y="3286125"/>
            <a:ext cx="2628900" cy="9525"/>
          </a:xfrm>
          <a:prstGeom prst="rect">
            <a:avLst/>
          </a:prstGeom>
          <a:solidFill>
            <a:srgbClr val="CFDB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086850" y="3371850"/>
            <a:ext cx="1161609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1875" dirty="0">
                <a:solidFill>
                  <a:srgbClr val="6379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Reticence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8934450" y="3829050"/>
            <a:ext cx="2628900" cy="9525"/>
          </a:xfrm>
          <a:prstGeom prst="rect">
            <a:avLst/>
          </a:prstGeom>
          <a:solidFill>
            <a:srgbClr val="CFDB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086850" y="3914775"/>
            <a:ext cx="1213071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1875" dirty="0">
                <a:solidFill>
                  <a:srgbClr val="6379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Neediness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8934450" y="4371975"/>
            <a:ext cx="2628900" cy="9525"/>
          </a:xfrm>
          <a:prstGeom prst="rect">
            <a:avLst/>
          </a:prstGeom>
          <a:solidFill>
            <a:srgbClr val="CFDB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086850" y="4457700"/>
            <a:ext cx="1742262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1875" dirty="0">
                <a:solidFill>
                  <a:srgbClr val="6379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Determination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8934450" y="4914900"/>
            <a:ext cx="2628900" cy="9525"/>
          </a:xfrm>
          <a:prstGeom prst="rect">
            <a:avLst/>
          </a:prstGeom>
          <a:solidFill>
            <a:srgbClr val="CFDB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9600" y="5524500"/>
            <a:ext cx="10972800" cy="9525"/>
          </a:xfrm>
          <a:prstGeom prst="rect">
            <a:avLst/>
          </a:prstGeom>
          <a:solidFill>
            <a:srgbClr val="C8D0B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7700" y="5705475"/>
            <a:ext cx="767524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575" dirty="0">
                <a:solidFill>
                  <a:srgbClr val="1D3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Vogel et al. · Public Administration Review · 2025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647700" y="6067425"/>
            <a:ext cx="631507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5369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DOI: 10.1111/puar.13844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086850" y="5915025"/>
            <a:ext cx="174879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575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汇报人：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10067925" y="6210300"/>
            <a:ext cx="1476375" cy="9525"/>
          </a:xfrm>
          <a:prstGeom prst="rect">
            <a:avLst/>
          </a:prstGeom>
          <a:solidFill>
            <a:srgbClr val="AEBC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323850"/>
            <a:ext cx="6120917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94"/>
              </a:lnSpc>
              <a:buNone/>
            </a:pPr>
            <a:r>
              <a:rPr lang="en-US" sz="3375" b="1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友善最正面，强势诉求明显负面</a:t>
            </a:r>
            <a:endParaRPr lang="en-US" sz="3375" dirty="0"/>
          </a:p>
        </p:txBody>
      </p:sp>
      <p:sp>
        <p:nvSpPr>
          <p:cNvPr id="4" name="Text 2"/>
          <p:cNvSpPr/>
          <p:nvPr/>
        </p:nvSpPr>
        <p:spPr>
          <a:xfrm>
            <a:off x="542925" y="1000125"/>
            <a:ext cx="79667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75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研究3 · 评价效价 Valence · n=860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514350" y="1476375"/>
            <a:ext cx="11163300" cy="9525"/>
          </a:xfrm>
          <a:prstGeom prst="rect">
            <a:avLst/>
          </a:prstGeom>
          <a:solidFill>
            <a:srgbClr val="C8D0B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647825"/>
            <a:ext cx="6572250" cy="3952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7825"/>
            <a:ext cx="6572250" cy="39187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62900" y="1695450"/>
            <a:ext cx="3260613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2025" dirty="0">
                <a:solidFill>
                  <a:srgbClr val="2456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Kindness / Engagement：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7962900" y="2114550"/>
            <a:ext cx="1127150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175" dirty="0">
                <a:solidFill>
                  <a:srgbClr val="243D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明显正面</a:t>
            </a:r>
            <a:endParaRPr lang="en-US" sz="2175" dirty="0"/>
          </a:p>
        </p:txBody>
      </p:sp>
      <p:sp>
        <p:nvSpPr>
          <p:cNvPr id="10" name="Text 7"/>
          <p:cNvSpPr/>
          <p:nvPr/>
        </p:nvSpPr>
        <p:spPr>
          <a:xfrm>
            <a:off x="7962900" y="2828925"/>
            <a:ext cx="3714750" cy="9525"/>
          </a:xfrm>
          <a:prstGeom prst="rect">
            <a:avLst/>
          </a:prstGeom>
          <a:solidFill>
            <a:srgbClr val="C8D0B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962900" y="3057525"/>
            <a:ext cx="2143938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2025" dirty="0">
                <a:solidFill>
                  <a:srgbClr val="2456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Determination：</a:t>
            </a:r>
            <a:endParaRPr lang="en-US" sz="2025" dirty="0"/>
          </a:p>
        </p:txBody>
      </p:sp>
      <p:sp>
        <p:nvSpPr>
          <p:cNvPr id="12" name="Text 9"/>
          <p:cNvSpPr/>
          <p:nvPr/>
        </p:nvSpPr>
        <p:spPr>
          <a:xfrm>
            <a:off x="7962900" y="3476625"/>
            <a:ext cx="2535897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175" dirty="0">
                <a:solidFill>
                  <a:srgbClr val="243D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唯一明显负面的原型</a:t>
            </a:r>
            <a:endParaRPr lang="en-US" sz="2175" dirty="0"/>
          </a:p>
        </p:txBody>
      </p:sp>
      <p:sp>
        <p:nvSpPr>
          <p:cNvPr id="13" name="Text 10"/>
          <p:cNvSpPr/>
          <p:nvPr/>
        </p:nvSpPr>
        <p:spPr>
          <a:xfrm>
            <a:off x="7962900" y="4191000"/>
            <a:ext cx="3714750" cy="9525"/>
          </a:xfrm>
          <a:prstGeom prst="rect">
            <a:avLst/>
          </a:prstGeom>
          <a:solidFill>
            <a:srgbClr val="C8D0B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962900" y="4419600"/>
            <a:ext cx="3184862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2025" dirty="0">
                <a:solidFill>
                  <a:srgbClr val="2456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Foreignness / Reticence /</a:t>
            </a:r>
            <a:endParaRPr lang="en-US" sz="2025" dirty="0"/>
          </a:p>
          <a:p>
            <a:pPr algn="l" indent="0" marL="0">
              <a:lnSpc>
                <a:spcPts val="2633"/>
              </a:lnSpc>
              <a:buNone/>
            </a:pPr>
            <a:r>
              <a:rPr lang="en-US" sz="2025" dirty="0">
                <a:solidFill>
                  <a:srgbClr val="2456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Neediness：</a:t>
            </a:r>
            <a:endParaRPr lang="en-US" sz="2025" dirty="0"/>
          </a:p>
        </p:txBody>
      </p:sp>
      <p:sp>
        <p:nvSpPr>
          <p:cNvPr id="15" name="Text 12"/>
          <p:cNvSpPr/>
          <p:nvPr/>
        </p:nvSpPr>
        <p:spPr>
          <a:xfrm>
            <a:off x="7962900" y="5172075"/>
            <a:ext cx="1408899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175" dirty="0">
                <a:solidFill>
                  <a:srgbClr val="243D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大致近中性</a:t>
            </a:r>
            <a:endParaRPr lang="en-US" sz="2175" dirty="0"/>
          </a:p>
        </p:txBody>
      </p:sp>
      <p:sp>
        <p:nvSpPr>
          <p:cNvPr id="16" name="Text 13"/>
          <p:cNvSpPr/>
          <p:nvPr/>
        </p:nvSpPr>
        <p:spPr>
          <a:xfrm>
            <a:off x="552450" y="5715000"/>
            <a:ext cx="417766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原文图3，第411页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0" y="6000750"/>
            <a:ext cx="12192000" cy="400050"/>
          </a:xfrm>
          <a:prstGeom prst="rect">
            <a:avLst/>
          </a:prstGeom>
          <a:solidFill>
            <a:srgbClr val="E7ED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33400" y="6048375"/>
            <a:ext cx="5129784" cy="33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800" dirty="0">
                <a:solidFill>
                  <a:srgbClr val="294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效价来自显性问卷；外来性近中性不等于没有歧视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306955" y="476250"/>
            <a:ext cx="75780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75" dirty="0">
                <a:solidFill>
                  <a:srgbClr val="315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ADMINISTRATION REVIEW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4324350" y="914400"/>
            <a:ext cx="3543300" cy="19050"/>
          </a:xfrm>
          <a:prstGeom prst="rect">
            <a:avLst/>
          </a:prstGeom>
          <a:solidFill>
            <a:srgbClr val="3155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49630" y="1524000"/>
            <a:ext cx="104927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75" dirty="0">
                <a:solidFill>
                  <a:srgbClr val="525B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 · 比较公共管理 · 文献组会汇报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422148" y="2143125"/>
            <a:ext cx="1134770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50"/>
              </a:lnSpc>
              <a:buNone/>
            </a:pPr>
            <a:r>
              <a:rPr lang="en-US" sz="4500" b="1" dirty="0">
                <a:solidFill>
                  <a:srgbClr val="20252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公务人员如何“看见”公民？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849630" y="3171825"/>
            <a:ext cx="10492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4049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内隐公民理论：文献解读与比较拓展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49630" y="4086225"/>
            <a:ext cx="104927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75"/>
              </a:lnSpc>
              <a:buNone/>
            </a:pPr>
            <a:r>
              <a:rPr lang="en-US" sz="2250" dirty="0">
                <a:solidFill>
                  <a:srgbClr val="234B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六个认知原型，而非六类互斥的人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49630" y="5257800"/>
            <a:ext cx="1049274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88"/>
              </a:lnSpc>
              <a:buNone/>
            </a:pPr>
            <a:r>
              <a:rPr lang="en-US" sz="1725" dirty="0">
                <a:solidFill>
                  <a:srgbClr val="475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Vogel et al. · Public Administration Review · 2025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849630" y="5676900"/>
            <a:ext cx="104927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B6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DOI: 10.1111/puar.13844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9600" y="5915025"/>
            <a:ext cx="10972800" cy="9525"/>
          </a:xfrm>
          <a:prstGeom prst="rect">
            <a:avLst/>
          </a:prstGeom>
          <a:solidFill>
            <a:srgbClr val="D9DF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9872" y="6086475"/>
            <a:ext cx="111922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5661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汇报人：________________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2450" y="209550"/>
            <a:ext cx="11308842" cy="559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6"/>
              </a:lnSpc>
              <a:buNone/>
            </a:pPr>
            <a:r>
              <a:rPr lang="en-US" sz="3525" b="1" dirty="0">
                <a:solidFill>
                  <a:srgbClr val="20252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友善最正面，强势诉求明显负面</a:t>
            </a:r>
            <a:endParaRPr lang="en-US" sz="3525" dirty="0"/>
          </a:p>
        </p:txBody>
      </p:sp>
      <p:sp>
        <p:nvSpPr>
          <p:cNvPr id="4" name="Text 2"/>
          <p:cNvSpPr/>
          <p:nvPr/>
        </p:nvSpPr>
        <p:spPr>
          <a:xfrm>
            <a:off x="571500" y="762000"/>
            <a:ext cx="6800850" cy="273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6"/>
              </a:lnSpc>
              <a:buNone/>
            </a:pPr>
            <a:r>
              <a:rPr lang="en-US" sz="1725" dirty="0">
                <a:solidFill>
                  <a:srgbClr val="4B58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研究3 · 评价效价 Valence · n=860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9048750" y="781050"/>
            <a:ext cx="26231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5B6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原文图3，第411页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333625" y="1066800"/>
            <a:ext cx="7524750" cy="421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5698" y="1066800"/>
            <a:ext cx="7060605" cy="4210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1500" y="5305425"/>
            <a:ext cx="11049000" cy="19050"/>
          </a:xfrm>
          <a:prstGeom prst="rect">
            <a:avLst/>
          </a:prstGeom>
          <a:solidFill>
            <a:srgbClr val="234B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71500" y="5381625"/>
            <a:ext cx="33615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75" dirty="0">
                <a:solidFill>
                  <a:srgbClr val="44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Kindness / Engagement：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571500" y="5667375"/>
            <a:ext cx="3361563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>
                <a:solidFill>
                  <a:srgbClr val="234B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明显正面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4095750" y="5381625"/>
            <a:ext cx="325469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75" dirty="0">
                <a:solidFill>
                  <a:srgbClr val="44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Determination：</a:t>
            </a:r>
            <a:endParaRPr lang="en-US" sz="1875" dirty="0"/>
          </a:p>
        </p:txBody>
      </p:sp>
      <p:sp>
        <p:nvSpPr>
          <p:cNvPr id="12" name="Text 9"/>
          <p:cNvSpPr/>
          <p:nvPr/>
        </p:nvSpPr>
        <p:spPr>
          <a:xfrm>
            <a:off x="4095750" y="5667375"/>
            <a:ext cx="3254693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>
                <a:solidFill>
                  <a:srgbClr val="234B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唯一明显负面的原型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515225" y="5381625"/>
            <a:ext cx="4187381" cy="284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1650" dirty="0">
                <a:solidFill>
                  <a:srgbClr val="44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Foreignness / Reticence / Neediness：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515225" y="5666482"/>
            <a:ext cx="4187381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>
                <a:solidFill>
                  <a:srgbClr val="234B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大致近中性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571500" y="6105525"/>
            <a:ext cx="11269980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dirty="0">
                <a:solidFill>
                  <a:srgbClr val="414D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效价来自显性问卷；外来性近中性不等于没有歧视</a:t>
            </a:r>
            <a:endParaRPr lang="en-US" sz="15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7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57200"/>
            <a:ext cx="10972800" cy="9525"/>
          </a:xfrm>
          <a:prstGeom prst="rect">
            <a:avLst/>
          </a:prstGeom>
          <a:solidFill>
            <a:srgbClr val="D881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85800"/>
            <a:ext cx="446639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D881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 · 比较公共管理 · 文献组会汇报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71500" y="1600200"/>
            <a:ext cx="7189470" cy="179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49"/>
              </a:lnSpc>
              <a:buNone/>
            </a:pPr>
            <a:r>
              <a:rPr lang="en-US" sz="5550" dirty="0">
                <a:solidFill>
                  <a:srgbClr val="F3F0E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公务人员如何</a:t>
            </a:r>
            <a:endParaRPr lang="en-US" sz="5550" dirty="0"/>
          </a:p>
          <a:p>
            <a:pPr algn="l" indent="0" marL="0">
              <a:lnSpc>
                <a:spcPts val="7049"/>
              </a:lnSpc>
              <a:buNone/>
            </a:pPr>
            <a:r>
              <a:rPr lang="en-US" sz="5550" dirty="0">
                <a:solidFill>
                  <a:srgbClr val="F3F0E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“看见”公民？</a:t>
            </a:r>
            <a:endParaRPr lang="en-US" sz="5550" dirty="0"/>
          </a:p>
        </p:txBody>
      </p:sp>
      <p:sp>
        <p:nvSpPr>
          <p:cNvPr id="6" name="Text 4"/>
          <p:cNvSpPr/>
          <p:nvPr/>
        </p:nvSpPr>
        <p:spPr>
          <a:xfrm>
            <a:off x="609600" y="3705225"/>
            <a:ext cx="481888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325" dirty="0">
                <a:solidFill>
                  <a:srgbClr val="F3F0E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内隐公民理论：文献解读与比较拓展</a:t>
            </a:r>
            <a:endParaRPr lang="en-US" sz="2325" dirty="0"/>
          </a:p>
        </p:txBody>
      </p:sp>
      <p:sp>
        <p:nvSpPr>
          <p:cNvPr id="7" name="Shape 5"/>
          <p:cNvSpPr/>
          <p:nvPr/>
        </p:nvSpPr>
        <p:spPr>
          <a:xfrm>
            <a:off x="628650" y="4562475"/>
            <a:ext cx="0" cy="838200"/>
          </a:xfrm>
          <a:prstGeom prst="line">
            <a:avLst/>
          </a:prstGeom>
          <a:noFill/>
          <a:ln w="38100">
            <a:solidFill>
              <a:srgbClr val="D881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250" y="4562475"/>
            <a:ext cx="6723126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175" dirty="0">
                <a:solidFill>
                  <a:srgbClr val="F3F0E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六个认知原型，</a:t>
            </a:r>
            <a:endParaRPr lang="en-US" sz="2175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2175" dirty="0">
                <a:solidFill>
                  <a:srgbClr val="F3F0E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而非六类互斥的人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8310562" y="1352550"/>
            <a:ext cx="0" cy="4162425"/>
          </a:xfrm>
          <a:prstGeom prst="line">
            <a:avLst/>
          </a:prstGeom>
          <a:noFill/>
          <a:ln w="9525">
            <a:solidFill>
              <a:srgbClr val="6567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39175" y="1352550"/>
            <a:ext cx="30020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575"/>
              </a:spcAft>
              <a:buNone/>
            </a:pPr>
            <a:r>
              <a:rPr lang="en-US" sz="1650" dirty="0">
                <a:solidFill>
                  <a:srgbClr val="D881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六个认知维度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639175" y="1862138"/>
            <a:ext cx="2952750" cy="0"/>
          </a:xfrm>
          <a:prstGeom prst="line">
            <a:avLst/>
          </a:prstGeom>
          <a:noFill/>
          <a:ln w="9525">
            <a:solidFill>
              <a:srgbClr val="5153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39175" y="1990725"/>
            <a:ext cx="30118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75" dirty="0">
                <a:solidFill>
                  <a:srgbClr val="F3F0E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Kindness</a:t>
            </a:r>
            <a:endParaRPr lang="en-US" sz="2175" dirty="0"/>
          </a:p>
        </p:txBody>
      </p:sp>
      <p:sp>
        <p:nvSpPr>
          <p:cNvPr id="13" name="Shape 11"/>
          <p:cNvSpPr/>
          <p:nvPr/>
        </p:nvSpPr>
        <p:spPr>
          <a:xfrm>
            <a:off x="8639175" y="2452688"/>
            <a:ext cx="2952750" cy="0"/>
          </a:xfrm>
          <a:prstGeom prst="line">
            <a:avLst/>
          </a:prstGeom>
          <a:noFill/>
          <a:ln w="9525">
            <a:solidFill>
              <a:srgbClr val="5153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39175" y="2581275"/>
            <a:ext cx="30118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75" dirty="0">
                <a:solidFill>
                  <a:srgbClr val="F3F0E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Engagement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8639175" y="3043238"/>
            <a:ext cx="2952750" cy="0"/>
          </a:xfrm>
          <a:prstGeom prst="line">
            <a:avLst/>
          </a:prstGeom>
          <a:noFill/>
          <a:ln w="9525">
            <a:solidFill>
              <a:srgbClr val="5153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39175" y="3171825"/>
            <a:ext cx="30118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75" dirty="0">
                <a:solidFill>
                  <a:srgbClr val="F3F0E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Foreignness</a:t>
            </a:r>
            <a:endParaRPr lang="en-US" sz="2175" dirty="0"/>
          </a:p>
        </p:txBody>
      </p:sp>
      <p:sp>
        <p:nvSpPr>
          <p:cNvPr id="17" name="Shape 15"/>
          <p:cNvSpPr/>
          <p:nvPr/>
        </p:nvSpPr>
        <p:spPr>
          <a:xfrm>
            <a:off x="8639175" y="3633788"/>
            <a:ext cx="2952750" cy="0"/>
          </a:xfrm>
          <a:prstGeom prst="line">
            <a:avLst/>
          </a:prstGeom>
          <a:noFill/>
          <a:ln w="9525">
            <a:solidFill>
              <a:srgbClr val="5153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39175" y="3762375"/>
            <a:ext cx="30118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75" dirty="0">
                <a:solidFill>
                  <a:srgbClr val="F3F0E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Reticence</a:t>
            </a:r>
            <a:endParaRPr lang="en-US" sz="2175" dirty="0"/>
          </a:p>
        </p:txBody>
      </p:sp>
      <p:sp>
        <p:nvSpPr>
          <p:cNvPr id="19" name="Shape 17"/>
          <p:cNvSpPr/>
          <p:nvPr/>
        </p:nvSpPr>
        <p:spPr>
          <a:xfrm>
            <a:off x="8639175" y="4224338"/>
            <a:ext cx="2952750" cy="0"/>
          </a:xfrm>
          <a:prstGeom prst="line">
            <a:avLst/>
          </a:prstGeom>
          <a:noFill/>
          <a:ln w="9525">
            <a:solidFill>
              <a:srgbClr val="5153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39175" y="4352925"/>
            <a:ext cx="30118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75" dirty="0">
                <a:solidFill>
                  <a:srgbClr val="F3F0E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Neediness</a:t>
            </a:r>
            <a:endParaRPr lang="en-US" sz="2175" dirty="0"/>
          </a:p>
        </p:txBody>
      </p:sp>
      <p:sp>
        <p:nvSpPr>
          <p:cNvPr id="21" name="Shape 19"/>
          <p:cNvSpPr/>
          <p:nvPr/>
        </p:nvSpPr>
        <p:spPr>
          <a:xfrm>
            <a:off x="8639175" y="4814888"/>
            <a:ext cx="2952750" cy="0"/>
          </a:xfrm>
          <a:prstGeom prst="line">
            <a:avLst/>
          </a:prstGeom>
          <a:noFill/>
          <a:ln w="9525">
            <a:solidFill>
              <a:srgbClr val="5153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39175" y="4943475"/>
            <a:ext cx="30118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75" dirty="0">
                <a:solidFill>
                  <a:srgbClr val="F3F0E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Determination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609600" y="5762625"/>
            <a:ext cx="439140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425" dirty="0">
                <a:solidFill>
                  <a:srgbClr val="C3C4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Vogel et al. · Public Administration Review · 2025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609600" y="6086475"/>
            <a:ext cx="194385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C3C4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DOI 10.1111/puar.13844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7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0" y="0"/>
            <a:ext cx="790575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428625"/>
            <a:ext cx="609600" cy="47625"/>
          </a:xfrm>
          <a:prstGeom prst="rect">
            <a:avLst/>
          </a:prstGeom>
          <a:solidFill>
            <a:srgbClr val="D881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714375"/>
            <a:ext cx="3594735" cy="101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7"/>
              </a:lnSpc>
              <a:buNone/>
            </a:pPr>
            <a:r>
              <a:rPr lang="en-US" sz="3075" dirty="0">
                <a:solidFill>
                  <a:srgbClr val="F3F0E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友善最正面，</a:t>
            </a:r>
            <a:endParaRPr lang="en-US" sz="3075" dirty="0"/>
          </a:p>
          <a:p>
            <a:pPr algn="l" indent="0" marL="0">
              <a:lnSpc>
                <a:spcPts val="3997"/>
              </a:lnSpc>
              <a:buNone/>
            </a:pPr>
            <a:r>
              <a:rPr lang="en-US" sz="3075" dirty="0">
                <a:solidFill>
                  <a:srgbClr val="F3F0E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强势诉求明显负面</a:t>
            </a:r>
            <a:endParaRPr lang="en-US" sz="3075" dirty="0"/>
          </a:p>
        </p:txBody>
      </p:sp>
      <p:sp>
        <p:nvSpPr>
          <p:cNvPr id="6" name="Text 4"/>
          <p:cNvSpPr/>
          <p:nvPr/>
        </p:nvSpPr>
        <p:spPr>
          <a:xfrm>
            <a:off x="381000" y="1962150"/>
            <a:ext cx="359473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3C4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研究3 · 评价效价 Valence · n=860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1000" y="2676525"/>
            <a:ext cx="359473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25" dirty="0">
                <a:solidFill>
                  <a:srgbClr val="D8815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Kindness / Engagement：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381000" y="3057525"/>
            <a:ext cx="359473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F3F0E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明显正面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81000" y="3590925"/>
            <a:ext cx="3524250" cy="9525"/>
          </a:xfrm>
          <a:prstGeom prst="rect">
            <a:avLst/>
          </a:prstGeom>
          <a:solidFill>
            <a:srgbClr val="5153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81000" y="3790950"/>
            <a:ext cx="359473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25" dirty="0">
                <a:solidFill>
                  <a:srgbClr val="D8815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Determination：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381000" y="4171950"/>
            <a:ext cx="359473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F3F0E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唯一明显负面的原型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81000" y="4705350"/>
            <a:ext cx="3524250" cy="9525"/>
          </a:xfrm>
          <a:prstGeom prst="rect">
            <a:avLst/>
          </a:prstGeom>
          <a:solidFill>
            <a:srgbClr val="5153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1000" y="4905375"/>
            <a:ext cx="359473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25" dirty="0">
                <a:solidFill>
                  <a:srgbClr val="F3F0E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Foreignness / Reticence /</a:t>
            </a:r>
            <a:endParaRPr lang="en-US" sz="2025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025" dirty="0">
                <a:solidFill>
                  <a:srgbClr val="F3F0E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Neediness：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381000" y="5667375"/>
            <a:ext cx="359473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F3F0E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大致近中性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657725" y="409575"/>
            <a:ext cx="3886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153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原文图3，第411页</a:t>
            </a:r>
            <a:endParaRPr lang="en-US" sz="15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942975"/>
            <a:ext cx="7334250" cy="4373166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657725" y="5581650"/>
            <a:ext cx="7162800" cy="0"/>
          </a:xfrm>
          <a:prstGeom prst="line">
            <a:avLst/>
          </a:prstGeom>
          <a:noFill/>
          <a:ln w="19050">
            <a:solidFill>
              <a:srgbClr val="D8815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57725" y="5686425"/>
            <a:ext cx="7306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2528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效价来自显性问卷；</a:t>
            </a:r>
            <a:endParaRPr lang="en-US" sz="21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2528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外来性近中性不等于没有歧视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2026-10-12T19:40:33Z</dcterms:created>
  <dcterms:modified xsi:type="dcterms:W3CDTF">2026-10-12T19:40:33Z</dcterms:modified>
</cp:coreProperties>
</file>