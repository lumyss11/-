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建议时段：00:00–00:25</a:t>
            </a:r>
          </a:p>
          <a:p>
            <a:r>
              <a:t>内容性质：文献定位</a:t>
            </a:r>
          </a:p>
          <a:p>
            <a:r>
              <a:t>来源：原文第402页；文献DOI 10.1111/puar.13844</a:t>
            </a:r>
          </a:p>
          <a:p/>
          <a:p>
            <a:r>
              <a:t>老师、同学们好。今天我汇报的文章，中文题目是《从社会分类到内隐公民理论：推进国家—公民互动的社会认知基础研究》。作者是Rick Vogel等四位研究者，文章发表于2025年的《公共行政评论》，也就是Public Administration Review。</a:t>
            </a:r>
          </a:p>
          <a:p/>
          <a:p>
            <a:r>
              <a:t>开始之前，我想请大家设想一个政务服务窗口。两位办事人申请同一种服务，材料和资格条件相同。第一位说话客气，提前整理好材料；第二位情绪焦虑，反复追问办理时间，并坚持自己有权得到解释。工作人员会不会对第一位多解释几句，却觉得第二位“很难缠”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建议时段：00:25–01:30</a:t>
            </a:r>
          </a:p>
          <a:p>
            <a:r>
              <a:t>内容性质：课堂解释</a:t>
            </a:r>
          </a:p>
          <a:p>
            <a:r>
              <a:t>来源：讲稿第1段；自拟解释场景，不是论文案例</a:t>
            </a:r>
          </a:p>
          <a:p/>
          <a:p>
            <a:r>
              <a:t>这个例子不是原文中的实证案例。我用它提出今天的问题：工作人员看到的，是申请材料中的条件，还是一个已经被贴上认知标签的人？这些标签从哪里来，又可能怎样进入行政过程？</a:t>
            </a:r>
          </a:p>
          <a:p/>
          <a:p>
            <a:r>
              <a:t>这篇文章最值得注意的地方，是它没有直接研究公民应当分成哪几类，而是研究工作人员头脑中已经存在的公民形象。下面我会先介绍研究问题、理论和方法，再解释六个原型，最后从比较公共管理的角度评价它，并提出一个后续研究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建议时段：01:30–03:30</a:t>
            </a:r>
          </a:p>
          <a:p>
            <a:r>
              <a:t>内容性质：研究问题</a:t>
            </a:r>
          </a:p>
          <a:p>
            <a:r>
              <a:t>来源：原文第403–404页；讲稿第2段</a:t>
            </a:r>
          </a:p>
          <a:p/>
          <a:p>
            <a:r>
              <a:t>国家与公民的互动是一个具体问题。宏观制度通过接待、解释与审批进入日常生活。公民对政府是否公平、是否值得信任的判断，也来自这些接触。</a:t>
            </a:r>
          </a:p>
          <a:p/>
          <a:p>
            <a:r>
              <a:t>过去已经有很多研究发现，工作人员对不同服务对象的反应可能不同。比如研究者会改变申请人的姓名或族群线索，观察工作人员是否回应；也会考察服务对象的性别、阶层、能力、动机，或者是否被认为值得帮助。这里的“值得帮助”有一个专业术语，叫deservingness。</a:t>
            </a:r>
          </a:p>
          <a:p/>
          <a:p>
            <a:r>
              <a:t>这些研究大体是在观察一条关系：公民发出某个信号，工作人员作出某种回应。但是，同样一句“请您解释一下”，有人可能听成合理的程序诉求，有人可能听成挑衅。这说明，信号和回应之间，可能还有一个工作人员解释信息的过程。</a:t>
            </a:r>
          </a:p>
          <a:p/>
          <a:p>
            <a:r>
              <a:t>作者因此指出，已有研究比较充分地关注了具体刺激，却较少直接考察工作人员带入工作的、一般化的公民认知结构。这就是本文试图打开的黑箱。</a:t>
            </a:r>
          </a:p>
          <a:p/>
          <a:p>
            <a:r>
              <a:t>用Lipsky的话说，一个人不可能在完全没有服务对象模型的情况下开展工作。我们理解自己的工作时，其实也在理解“这个工作是对什么样的人开展的”。如果把公民想成合作伙伴，和把公民想成需要约束的对象，即使正式规则相同，理解互动的方式也可能不同。</a:t>
            </a:r>
          </a:p>
          <a:p/>
          <a:p>
            <a:r>
              <a:t>所以，本文不是从“所有工作人员都有歧视”这样的判断出发，而是先问一个更基础的问题：他们对公民有哪些反复出现的联想？这些联想是否有稳定结构？只有弄清楚这一点，后续才有可能严谨地研究其行为后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建议时段：03:30–04:45</a:t>
            </a:r>
          </a:p>
          <a:p>
            <a:r>
              <a:t>内容性质：理论概念</a:t>
            </a:r>
          </a:p>
          <a:p>
            <a:r>
              <a:t>来源：原文第404–405页；讲稿第3段</a:t>
            </a:r>
          </a:p>
          <a:p/>
          <a:p>
            <a:r>
              <a:t>作者把这种认知结构称为Implicit Citizenship Theories，简称ICTs，我把它译为“内隐公民理论”。这里的ICTs不是信息通信技术，而是有关公民的日常心理理论。</a:t>
            </a:r>
          </a:p>
          <a:p/>
          <a:p>
            <a:r>
              <a:t>这个概念可以分成三个层次理解。最底层是属性，比如有礼貌、焦虑、有动力。多个相关属性组合起来，形成prototype，也就是原型，比如“友善”或“求助困境”。这些原型又彼此关联，共同组成工作人员理解公民的一套框架。</a:t>
            </a:r>
          </a:p>
          <a:p/>
          <a:p>
            <a:r>
              <a:t>这里的“理论”，是普通人理解世界的经验判断。工作人员未必说得出一套理论，却可能在接待之前，就对服务对象有所期待。</a:t>
            </a:r>
          </a:p>
          <a:p/>
          <a:p>
            <a:r>
              <a:t>这里的“内隐”，也不意味着完全不能被意识到。作者认为，经过反思，人可以对自己的日常理论有一定认识；只是实际使用时，它们往往快速、联想式地起作用，不需要每次都重新推理。这与dual-process models，也就是双加工模型有关：有的思考慢、审慎、有意识，有的思考快、依靠联想、比较自动化。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建议时段：04:45–05:30</a:t>
            </a:r>
          </a:p>
          <a:p>
            <a:r>
              <a:t>内容性质：理论概念</a:t>
            </a:r>
          </a:p>
          <a:p>
            <a:r>
              <a:t>来源：原文第404–405页；讲稿第3段</a:t>
            </a:r>
          </a:p>
          <a:p/>
          <a:p>
            <a:r>
              <a:t>这些框架既可能帮助工作人员快速理解复杂情境，也可能导致过度简化。所以不能简单地把内隐认知等同于恶意偏见。</a:t>
            </a:r>
          </a:p>
          <a:p/>
          <a:p>
            <a:r>
              <a:t>另外，本文同时涉及typical和ideal：前者是工作人员觉得公民通常是什么样，后者是觉得公民最好是什么样。经验印象与理想期待都可能进入ICTs，但本文没有把两者完全拆开测量。这一点后来会成为我们评价研究的重要问题。</a:t>
            </a:r>
          </a:p>
          <a:p/>
          <a:p>
            <a:r>
              <a:t>最后，本文中的“公民”是工作人员所理解的服务对象，不严格等于法律国籍概念。例如，工作人员可能把游客和移民也包括进去。因此，我们阅读Foreignness时，不能立刻把它理解成法律上“外国人”的比例。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建议时段：05:30–07:30</a:t>
            </a:r>
          </a:p>
          <a:p>
            <a:r>
              <a:t>内容性质：理论机制及证据边界</a:t>
            </a:r>
          </a:p>
          <a:p>
            <a:r>
              <a:t>来源：原文第405–406页；讲稿第4段</a:t>
            </a:r>
          </a:p>
          <a:p/>
          <a:p>
            <a:r>
              <a:t>本文的理论机制，可以用一条简单的链条理解。既往经验和社会化，形成工作人员对公民的认知图式；当工作人员与具体公民接触时，公民的语言、行为和其他线索激活某些原型；工作人员把眼前的人与原型比较，再形成解释、态度与可能的行为反应。</a:t>
            </a:r>
          </a:p>
          <a:p/>
          <a:p>
            <a:r>
              <a:t>比如，一个反复询问办理进度的人，既可能是担忧急需帮助，也可能被理解为要求过多。前一种解释更接近Neediness，后一种更接近Determination。究竟哪种解释更容易被激活，可能与工作人员过去的接触经验、当时的工作负荷和组织文化有关。</a:t>
            </a:r>
          </a:p>
          <a:p/>
          <a:p>
            <a:r>
              <a:t>当眼前的人与原型吻合时，工作人员更容易启用惯常反应。但认知上的省力，不一定带来公平：方便的标签可能遗漏人的实际处境。</a:t>
            </a:r>
          </a:p>
          <a:p/>
          <a:p>
            <a:r>
              <a:t>但是，我要先标明一个证据边界：刚才这条从认知到行为的链条，是本文提出的理论逻辑，不是本文每一环都已经用实验证明了。本文主要直接检验的，是其中的认知结构。</a:t>
            </a:r>
          </a:p>
          <a:p/>
          <a:p>
            <a:r>
              <a:t>因此，我把它的研究问题概括为三个：第一，工作人员自由想到公民时，会想到什么属性？第二，这些属性是否能组成可区分的原型？第三，这种原型结构在独立样本中能否得到验证，工作人员又怎样评价这些原型？</a:t>
            </a:r>
          </a:p>
          <a:p/>
          <a:p>
            <a:r>
              <a:t>它是一项概念发展和测量建构研究，还没有回答全部因果问题。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建议时段：07:30–08:40</a:t>
            </a:r>
          </a:p>
          <a:p>
            <a:r>
              <a:t>内容性质：实证设计</a:t>
            </a:r>
          </a:p>
          <a:p>
            <a:r>
              <a:t>来源：原文图1，第406页；讲稿第5段</a:t>
            </a:r>
          </a:p>
          <a:p/>
          <a:p>
            <a:r>
              <a:t>为回答这些问题，作者在德国公共部门进行了四项依次开展的研究，分别叫研究1a、1b、2和3。它们不是追踪同一批人的四次调查，而是四个相互独立的样本。参与者不能重复参加不同研究。</a:t>
            </a:r>
          </a:p>
          <a:p/>
          <a:p>
            <a:r>
              <a:t>研究1a是28名一线工作人员的半结构式访谈，使用critical incident technique，也就是关键事件技术。研究者让工作人员先谈常见工作场景，再谈特别正面和负面的经历，分析他们怎样描述公民。</a:t>
            </a:r>
          </a:p>
          <a:p/>
          <a:p>
            <a:r>
              <a:t>访谈共得到829次属性提及。请注意，这不是829种不同属性；合并同义表达之后，得到389个不同属性。这样做的意义是，研究者没有一开始就告诉受访者“请按性别、族群或应得性来分类”，而是尽量从工作人员自己的描述中生成条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建议时段：08:40–09:40</a:t>
            </a:r>
          </a:p>
          <a:p>
            <a:r>
              <a:t>内容性质：实证设计</a:t>
            </a:r>
          </a:p>
          <a:p>
            <a:r>
              <a:t>来源：原文第406–408页、图1；讲稿第5段</a:t>
            </a:r>
          </a:p>
          <a:p/>
          <a:p>
            <a:r>
              <a:t>因为访谈发生在疫情期间，作者让受访者回忆疫情之前的工作，避免特殊时期主导结果。这有一个取舍：它减少了异常情境的影响，却可能增加回忆过去事件的偏差。</a:t>
            </a:r>
          </a:p>
          <a:p/>
          <a:p>
            <a:r>
              <a:t>研究1b是一项204人的调查，让参与者结合当前工作，写出想到公民时立即出现的至少五个属性。它提供923次属性提及，整理为291个不同属性。访谈提供深度，开放问卷提供更广的覆盖，两者相互补充。</a:t>
            </a:r>
          </a:p>
          <a:p/>
          <a:p>
            <a:r>
              <a:t>然后，作者合并两项研究，得到558个不重复属性。接下来不是简单挑最常见的几个词，而是建立联想网络：同一位参与者同时提到的属性，形成共同出现的联系。作者使用core/periphery partition，也就是核心—边缘划分，保留网络核心中的85个属性，再删除两个解释不清的词，最终得到83个正式测量条目。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建议时段：09:40–10:30</a:t>
            </a:r>
          </a:p>
          <a:p>
            <a:r>
              <a:t>内容性质：样本及适用范围</a:t>
            </a:r>
          </a:p>
          <a:p>
            <a:r>
              <a:t>来源：原文表1，第407页；情境说明第406页；讲稿第5段</a:t>
            </a:r>
          </a:p>
          <a:p/>
          <a:p>
            <a:r>
              <a:t>研究2用611人的有效样本探索原型结构，研究3用另一个860人的有效样本进行验证。加上前两项，四项研究有效样本合计1703人，但不能把它们混成一个共同接受全部测量的大样本。</a:t>
            </a:r>
          </a:p>
          <a:p/>
          <a:p>
            <a:r>
              <a:t>样本来自多个服务领域和行政层级，有助于寻找一般结构；但仍全部来自德国，不能推广为所有国家的结论。</a:t>
            </a:r>
          </a:p>
          <a:p/>
          <a:p>
            <a:r>
              <a:t>这个设计的优势在于，先生成、筛选条目，再探索结构，最后独立验证。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建议时段：10:30–11:40</a:t>
            </a:r>
          </a:p>
          <a:p>
            <a:r>
              <a:t>内容性质：测量方法</a:t>
            </a:r>
          </a:p>
          <a:p>
            <a:r>
              <a:t>来源：原文第408页；讲稿第6段</a:t>
            </a:r>
          </a:p>
          <a:p/>
          <a:p>
            <a:r>
              <a:t>研究2采用rapid response measure，简称RRM，中文叫快速反应测量。屏幕上依次出现“公民”和一个属性词，参与者快速判断这个词与公民是match还是no match，也就是匹配或不匹配。83个属性随机呈现。</a:t>
            </a:r>
          </a:p>
          <a:p/>
          <a:p>
            <a:r>
              <a:t>限时二元判断缩短反思空间，希望更接近直觉与联想，减少人们按职业规范或社会期待给出答案的机会。</a:t>
            </a:r>
          </a:p>
          <a:p/>
          <a:p>
            <a:r>
              <a:t>作者排除机械或不合理作答，保留300到10000毫秒内的反应，平均约1.38秒。异常值以属性均值填补；不作这一调整的分析未发现实质差异。</a:t>
            </a:r>
          </a:p>
          <a:p/>
          <a:p>
            <a:r>
              <a:t>这里也要注意，RRM不是直接读取潜意识的仪器。一个人回答得快，可能涉及熟悉程度、阅读速度、注意状态等因素。较准确的说法是，它在理论和方法上努力减少反思性作答，而不是保证把全部真实偏见都测出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建议时段：11:40–13:00</a:t>
            </a:r>
          </a:p>
          <a:p>
            <a:r>
              <a:t>内容性质：实证方法与结果</a:t>
            </a:r>
          </a:p>
          <a:p>
            <a:r>
              <a:t>来源：原文表2，第409页；方法第408页；讲稿第6段</a:t>
            </a:r>
          </a:p>
          <a:p/>
          <a:p>
            <a:r>
              <a:t>有了这些回答，作者进行exploratory factor analysis，简称EFA，也就是探索性因子分析。我们可以把它理解成：观察哪些属性的判断模式经常一起变化，从而推断它们背后是否存在共同维度。它分析的是属性之间的结构，不是把611个人分成六群。</a:t>
            </a:r>
          </a:p>
          <a:p/>
          <a:p>
            <a:r>
              <a:t>因为数据主要是匹配或不匹配的二元回答，作者使用四分相关矩阵，再进行因子分析。采用斜交旋转，意味着允许因子彼此相关，而不是强行规定原型互不相关。</a:t>
            </a:r>
          </a:p>
          <a:p/>
          <a:p>
            <a:r>
              <a:t>分析结果提示可以提取五个或六个因子。作者选择六因子方案：保留34个属性，解释54.4%的方差，高于五因子的50.9%。随后为便于未来研究，五个因子各选载荷最高的三个属性，外来性只有两个，形成17属性短版。短版是否真的好用，还需要研究3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建议时段：13:00–13:35</a:t>
            </a:r>
          </a:p>
          <a:p>
            <a:r>
              <a:t>内容性质：实证结构及概念解释</a:t>
            </a:r>
          </a:p>
          <a:p>
            <a:r>
              <a:t>来源：原文第409–412页、附录B；讲稿第7段</a:t>
            </a:r>
          </a:p>
          <a:p/>
          <a:p>
            <a:r>
              <a:t>接下来是这篇文章最容易记住、也最容易被误读的部分：六个原型。我先强调，它们不是现实公民的六种互斥类别。同一个人可以既友善又焦虑，也可以既内向又认真准备材料。这里研究的是工作人员理解公民时使用的六个维度。</a:t>
            </a:r>
          </a:p>
          <a:p/>
          <a:p>
            <a:r>
              <a:t>第一个是Engagement，我译为参与投入。最终保留的三个词是motivated、conscientious和goal-driven，也就是有动力、认真尽责、目标导向。它表示工作人员想到公民时，会联想到主动投入、认真行动的形象。它与规范性理论中积极参与的“有德性公民”有联系，但并不等于已经测量了公民的真实政治参与水平。</a:t>
            </a:r>
          </a:p>
          <a:p/>
          <a:p>
            <a:r>
              <a:t>第二个是Kindness，友善。包括friendly、polite和nice，也就是友好、有礼貌、和善。这是互动关系中的态度维度。它和Engagement不同：一个人可以客气但没有准备，也可以准备充分但不够温和。两个维度分别涉及投入与互动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建议时段：13:35–14:35</a:t>
            </a:r>
          </a:p>
          <a:p>
            <a:r>
              <a:t>内容性质：原型解释</a:t>
            </a:r>
          </a:p>
          <a:p>
            <a:r>
              <a:t>来源：原文附录B，第418页；讨论第411–412页；讲稿第7段</a:t>
            </a:r>
          </a:p>
          <a:p/>
          <a:p>
            <a:r>
              <a:t>第三个是Determination。这个词在日常英文里可以表示决心，但本文不能简单译成褒义的“有决心”。它的三个属性是egoistic、demanding和assertive，即自我中心、要求很多、坚持己见。我采用“强势诉求”作为语境译法，并保留英文。工作人员将这一组特征看得比较负面。需要注意，正当维护权利的人也可能被工作人员理解为要求很多；这一可能性属于我们的规范性追问，不是文章已经检验的事实。</a:t>
            </a:r>
          </a:p>
          <a:p/>
          <a:p>
            <a:r>
              <a:t>第四个是Reticence，内敛。包括shy、reserved和introvert，即害羞、拘谨、内向。它不同于不合作，更不能直接等于没有公共精神。一个人不敢说话，可能是性格原因，也可能是不熟悉规则或担心被否定。原型告诉我们工作人员有哪些联想，却没有替我们确定这些表现的实际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建议时段：14:35–15:35</a:t>
            </a:r>
          </a:p>
          <a:p>
            <a:r>
              <a:t>内容性质：原型解释＋自主评议</a:t>
            </a:r>
          </a:p>
          <a:p>
            <a:r>
              <a:t>来源：原文附录B、第412页；规范性追问为讲稿拓展</a:t>
            </a:r>
          </a:p>
          <a:p/>
          <a:p>
            <a:r>
              <a:t>第五个是Neediness，我译为求助困境。包括desperate、anxious和worried，即绝望、焦虑、担忧。这个名称容易让人想到“需要帮助”，但最终短版的三个词主要测到的是情绪性困境。所以它不等于已经核实了经济贫困或救助资格，也不能和deservingness完全画等号。</a:t>
            </a:r>
          </a:p>
          <a:p/>
          <a:p>
            <a:r>
              <a:t>第六个是Foreignness，外来性。包括non-native和foreign-language，即非本国本土、使用外语。它提示，在德国工作人员的公民联想中，语言与来源差异形成了一个维度。它不等于对某个群体的全面态度或现实人口比例。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建议时段：15:35–16:30</a:t>
            </a:r>
          </a:p>
          <a:p>
            <a:r>
              <a:t>内容性质：原型解释及边界</a:t>
            </a:r>
          </a:p>
          <a:p>
            <a:r>
              <a:t>来源：原文附录B、第412页；讲稿第7段</a:t>
            </a:r>
          </a:p>
          <a:p/>
          <a:p>
            <a:r>
              <a:t>我们现在回到开场例子：一位办事人既礼貌，又因为急需帮助而焦虑。他可以同时引起Kindness和Neediness的联想。另一位积极准备、坚持程序权利的人，也可能同时引起Engagement和Determination的联想。这就是为什么原型需要被理解为可以共存的认知镜头，而不是一人只能拥有一个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建议时段：16:30–17:30</a:t>
            </a:r>
          </a:p>
          <a:p>
            <a:r>
              <a:t>内容性质：实证验证</a:t>
            </a:r>
          </a:p>
          <a:p>
            <a:r>
              <a:t>来源：原文图2，第410页；指标第409页；讲稿第8段</a:t>
            </a:r>
          </a:p>
          <a:p/>
          <a:p>
            <a:r>
              <a:t>研究3用860人的独立样本做confirmatory factor analysis，也就是CFA，验证性因子分析。EFA是探索“可能有哪些维度”，CFA则检验“先前提出的六维结构是否能与新数据相符”。</a:t>
            </a:r>
          </a:p>
          <a:p/>
          <a:p>
            <a:r>
              <a:t>结果是，34属性模型的拟合不够理想，17属性的一阶六因子模型更好。这里的一阶六因子，指17个属性分别对应六个相关维度，不是已经证明六者都归属于某个单一的好公民分数。</a:t>
            </a:r>
          </a:p>
          <a:p/>
          <a:p>
            <a:r>
              <a:t>几个关键指标是：CFI从34属性版本的0.866提高到17属性版本的0.960，RMSEA从0.082下降到0.049；短版的TLI是0.948，SRMR是0.067。我们不需要背下每个数字，主要知道：不同指标总体支持更精简的模型，但模型拟合良好不等于模型一定正确，更不等于已证明对真实行为有预测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建议时段：17:30–18:30</a:t>
            </a:r>
          </a:p>
          <a:p>
            <a:r>
              <a:t>内容性质：实证结果及边界</a:t>
            </a:r>
          </a:p>
          <a:p>
            <a:r>
              <a:t>来源：原文图3，第411页；讨论第412页；讲稿第8段</a:t>
            </a:r>
          </a:p>
          <a:p/>
          <a:p>
            <a:r>
              <a:t>然后作者另行调查valence，也就是评价效价。这个测量问的不是“你是否联想到这个特征”，而是“你觉得这个特征好不好”。这两个问题必须分开。一个人经常想到焦虑的公民，并不一定讨厌焦虑的公民。</a:t>
            </a:r>
          </a:p>
          <a:p/>
          <a:p>
            <a:r>
              <a:t>图3显示，Kindness最正面，Engagement也明显正面；Determination是唯一明显负面的原型。其余三个大体接近中性。外来性没有明确负面效价，是一个值得注意的结果。</a:t>
            </a:r>
          </a:p>
          <a:p/>
          <a:p>
            <a:r>
              <a:t>但我们不能据此宣布“德国行政没有族群歧视”。因为效价来自传统问卷，可能存在社会赞许偏差，而且没有直接观察对外来者的服务决策。本文较稳妥的结论是，在这项测量中，外来性评价没有明显偏向负面。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建议时段：18:30–20:00</a:t>
            </a:r>
          </a:p>
          <a:p>
            <a:r>
              <a:t>内容性质：事后分析</a:t>
            </a:r>
          </a:p>
          <a:p>
            <a:r>
              <a:t>来源：原文第410–411页；补充材料H/I未随PDF提供；讲稿第9段</a:t>
            </a:r>
          </a:p>
          <a:p/>
          <a:p>
            <a:r>
              <a:t>作者还做了事后分析。第一是measurement invariance，也就是测量不变性分析。一次比较主要给予福利与主要施加义务的工作人员，一次比较公民接触程度不同的工作人员。</a:t>
            </a:r>
          </a:p>
          <a:p/>
          <a:p>
            <a:r>
              <a:t>主动申请福利与被动接受处罚，进入互动的方式不同；接触假说也认为，与群体接触可能改变刻板认知。</a:t>
            </a:r>
          </a:p>
          <a:p/>
          <a:p>
            <a:r>
              <a:t>作者报告，这些组之间没有发现达到统计显著程度的测量差异，支持该结构在这些工作情境中的稳定性。但是，这不意味着两组工作人员的态度水平完全一样，也不意味着接触多少没有任何影响。结构类似，与平均水平相同，是两个不同判断。</a:t>
            </a:r>
          </a:p>
          <a:p/>
          <a:p>
            <a:r>
              <a:t>第二，作者分析个体特征与原型显著性、效价的关联。例如，女性工作人员对友善和外来性的联想更强；薪酬组较高的工作人员对参与投入和友善评价更正面，对求助困境评价则更负面。</a:t>
            </a:r>
          </a:p>
          <a:p/>
          <a:p>
            <a:r>
              <a:t>共同维度不排除个体差异。但回归关联不证明性别或薪酬造成差异，也可能涉及岗位和经历。</a:t>
            </a:r>
          </a:p>
          <a:p/>
          <a:p>
            <a:r>
              <a:t>分类框架有共通性，显著性与评价仍有个体差异。下一步要问：谁在什么情境下更容易激活哪个原型？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建议时段：20:00–22:00</a:t>
            </a:r>
          </a:p>
          <a:p>
            <a:r>
              <a:t>内容性质：学术贡献＋自主评议</a:t>
            </a:r>
          </a:p>
          <a:p>
            <a:r>
              <a:t>来源：原文讨论第411–414页；讲稿第10段</a:t>
            </a:r>
          </a:p>
          <a:p/>
          <a:p>
            <a:r>
              <a:t>按组会汇报的要求，我接下来不再只是复述作者，而是评价这篇文章。首先，它有三个比较清楚的贡献。</a:t>
            </a:r>
          </a:p>
          <a:p/>
          <a:p>
            <a:r>
              <a:t>第一是理论贡献。它把分散的性别、族群、应得性研究，放进一个更广泛的认知结构问题中。我们不仅看公民发出什么信号，还看工作人员用什么框架理解信号。</a:t>
            </a:r>
          </a:p>
          <a:p/>
          <a:p>
            <a:r>
              <a:t>第二是内容贡献。除了与既有研究相近的参与投入、求助困境和外来性，它把友善、强势诉求和内敛纳入系统化测量。由此可以看出，工作人员的公民认知既包含身份线索，也包含互动风格和情绪特征。</a:t>
            </a:r>
          </a:p>
          <a:p/>
          <a:p>
            <a:r>
              <a:t>第三是方法贡献。自由生成、网络筛选、限时测量与独立验证，形成比较完整的建构路径，提供可继续检验的工具。</a:t>
            </a:r>
          </a:p>
          <a:p/>
          <a:p>
            <a:r>
              <a:t>但它最重要的边界，是测量有效性与行为后果之间仍有距离。本文没有随机改变工作人员的ICTs，再观察是否产生差别服务；也没有直接追踪每一次办事中的真实待遇。因此，不能把“识别了负面原型”说成“证明这个原型导致了歧视”。</a:t>
            </a:r>
          </a:p>
          <a:p/>
          <a:p>
            <a:r>
              <a:t>它主要提供的是结构层面的证据：某些属性不是随机地一起出现，而能组成可区分的维度。它提出的服务质量、公平和中立后果，是有理论依据的研究方向，仍需要后续行为研究。</a:t>
            </a:r>
          </a:p>
          <a:p/>
          <a:p>
            <a:r>
              <a:t>同样，作者提出解冻原型、减少认知负荷、改变组织生态等管理建议，借鉴了其他研究，并不是本文自己完成了这些干预实验。我们评价建议时，应把“值得检验”与“已经证明有效”分开。</a:t>
            </a:r>
          </a:p>
          <a:p/>
          <a:p>
            <a:r>
              <a:t>我的判断是，它将模糊的认知问题变得可以测量，推进了后续研究的起点，但没有走完认知到行为的解释链条。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建议时段：22:00–24:00</a:t>
            </a:r>
          </a:p>
          <a:p>
            <a:r>
              <a:t>内容性质：批判性评议</a:t>
            </a:r>
          </a:p>
          <a:p>
            <a:r>
              <a:t>来源：原文局限第413–414页；讲稿第11段自主评议</a:t>
            </a:r>
          </a:p>
          <a:p/>
          <a:p>
            <a:r>
              <a:t>除了作者自己提出的国家情境限制，我认为还有三个值得追问的问题。</a:t>
            </a:r>
          </a:p>
          <a:p/>
          <a:p>
            <a:r>
              <a:t>第一是条目筛选。作者从联想网络核心保留属性，有助于提炼常见结构。但相对罕见、处于网络边缘的属性，会不会也涉及严重的不公平？常见性不等于规范重要性。我们不能因为某种排斥性联想很少被提到，就认为它不值得研究。</a:t>
            </a:r>
          </a:p>
          <a:p/>
          <a:p>
            <a:r>
              <a:t>第二是测量含义。二元判断难以表达“部分匹配”或“仅适用于某个场景”。典型与理想公民也可能混在作答中，未来可分别提示，再与其他工具比较。</a:t>
            </a:r>
          </a:p>
          <a:p/>
          <a:p>
            <a:r>
              <a:t>还有两个具体问题值得关注：外来性只有两个指标，对构念的覆盖有限；作者用均值填补异常回答，使部分值不再是严格二元。作者已经报告不作调整的分析没有实质差异，这增加了一些可信度，但我们如果复现研究，仍应仔细检查处理规则和模型稳健性。</a:t>
            </a:r>
          </a:p>
          <a:p/>
          <a:p>
            <a:r>
              <a:t>第三是规范性问题，也是我认为课堂讨论最有意义的问题：工作人员认为某种特征可取，不代表行政机关可以据此给予优待。公民礼貌固然值得鼓励，但不礼貌、焦虑或表达困难，不应自动降低其依法应得的服务。</a:t>
            </a:r>
          </a:p>
          <a:p/>
          <a:p>
            <a:r>
              <a:t>这里尤其要警惕，把强势表达等同于无理取闹。我们需要区分两件事：对工作人员实施攻击或威胁，和坚持程序权利、提出投诉或要求解释。行政机关可以依法处理前者，却不应因为不喜欢后者而减少服务。</a:t>
            </a:r>
          </a:p>
          <a:p/>
          <a:p>
            <a:r>
              <a:t>因此，这套工具适合研究和反思，也应当谨慎使用。它不能被简单转化为给公民贴标签的名单，更不宜只凭一次内隐测量判断某个工作人员是不是“坏员工”。公平的管理，需要关注真实行为、程序和组织条件。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建议时段：24:00–26:00</a:t>
            </a:r>
          </a:p>
          <a:p>
            <a:r>
              <a:t>内容性质：比较公共管理拓展</a:t>
            </a:r>
          </a:p>
          <a:p>
            <a:r>
              <a:t>来源：原文第406、413–414页；讲稿第12段自主拓展；Jilke et al. 2015</a:t>
            </a:r>
          </a:p>
          <a:p/>
          <a:p>
            <a:r>
              <a:t>回到比较公共管理这门课，本文虽然不是直接的跨国比较研究，却提供了一个很有价值的连接点：宏观行政传统，可能通过组织环境和工作人员认知，进入微观国家—公民互动。</a:t>
            </a:r>
          </a:p>
          <a:p/>
          <a:p>
            <a:r>
              <a:t>作者指出，德国具有大陆法治传统、联邦制和专业化特征，关系带有一定等级性，也推动服务改善和公民合作。这些条件可能影响工作人员如何理解公民角色。</a:t>
            </a:r>
          </a:p>
          <a:p/>
          <a:p>
            <a:r>
              <a:t>我们可以据此提出一个跨国研究问题：如果行政制度和服务理念不同，工作人员对同样的公民表现，是否会激活不同原型？例如，坚持提出要求的行为，究竟更容易被理解为正当权利表达，还是较难配合？这是待检验的问题，不能预设某个国家更公平。</a:t>
            </a:r>
          </a:p>
          <a:p/>
          <a:p>
            <a:r>
              <a:t>放到中国情境中，我认为可以提出两个研究线索。一个是政务服务数字化：不熟悉线上申请的人，可能表现得反复询问或需要更多解释。工作人员如何理解这些行为，是否把制度设计造成的困难归因给个人？另一个是人口流动：本地语言、居住经历或规则熟悉程度，是否形成具有本地含义的外来性认知？这两个都是拓展假设，不是本文关于中国的结论。</a:t>
            </a:r>
          </a:p>
          <a:p/>
          <a:p>
            <a:r>
              <a:t>真正比较时，不能直接把德国问卷翻译完，就比较中国和德国哪个平均分高。foreign-language在德国的含义，未必等于中国的方言差异；non-native也不必然等于外地户籍。我们必须先确认测到的是可以比较的概念。</a:t>
            </a:r>
          </a:p>
          <a:p/>
          <a:p>
            <a:r>
              <a:t>更合理的路径是，先在两国自由生成属性，找共同维度和特有维度，再检验测量不变性。构型不变性关注结构是否相似；载荷等值关注指标与构念的关系是否相似；若要比较潜在均值，还需要适用于二元指标的阈值等值等条件。否则，看起来是国家差异，实际上可能只是词语含义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建议时段：26:00–28:00</a:t>
            </a:r>
          </a:p>
          <a:p>
            <a:r>
              <a:t>内容性质：自主研究设想</a:t>
            </a:r>
          </a:p>
          <a:p>
            <a:r>
              <a:t>来源：讲稿第13段自主研究设计；依据本文理论框架</a:t>
            </a:r>
          </a:p>
          <a:p/>
          <a:p>
            <a:r>
              <a:t>如果按组会要求提出下一步研究，我会问：当办事人的实质资格相同，工作人员是否会因互动风格不同而改变帮助意愿？工作人员的ICTs能否解释这种差异？</a:t>
            </a:r>
          </a:p>
          <a:p/>
          <a:p>
            <a:r>
              <a:t>一个比较可行的设计，是先在某一类相近政务服务岗位中测量ICTs，再安排一个随机情境实验。所有参与者看到的申请条件、材料、请求内容和礼貌程度保持一致，只改变服务对象表达诉求的坚定程度：一组明确坚持获得解释，另一组较温和地询问。</a:t>
            </a:r>
          </a:p>
          <a:p/>
          <a:p>
            <a:r>
              <a:t>这里必须把坚定与攻击区分开，不能让实验一组是正常问询、另一组是辱骂威胁，再把所有待遇差异都归因于强势原型。我们研究的，是合法诉求表达风格可能引起的解释差异。</a:t>
            </a:r>
          </a:p>
          <a:p/>
          <a:p>
            <a:r>
              <a:t>结果变量可以包括工作人员愿意投入多少额外解释时间、是否主动提供操作提示、如何理解对方行为。我们可以提出一个假设：负面强势原型越容易被激活的工作人员，面对坚定表达时，帮助意愿可能下降得更多。</a:t>
            </a:r>
          </a:p>
          <a:p/>
          <a:p>
            <a:r>
              <a:t>但即使互动风格随机分配，原型本身仍然只是被测量，而不是被随机操纵。因此，这个设计可以更有力地识别表达风格的效应，却不能单凭原型与结果的关联，就证明原型造成了行为。要进一步检验机制，还可以随机加入程序权利提醒，并观察是否改变工作人员对相同表达的解释与回应。</a:t>
            </a:r>
          </a:p>
          <a:p/>
          <a:p>
            <a:r>
              <a:t>中德比较要选择可比岗位，处理语言与组织差异，并考虑工作人员嵌套于机构；福利岗位与处罚岗位不能直接混比。</a:t>
            </a:r>
          </a:p>
          <a:p/>
          <a:p>
            <a:r>
              <a:t>本科课程可以先做访谈或材料预测试，把跨国方案作为设想。若只用学生模拟，则不能当作真实工作人员的行为证据。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建议时段：28:00–29:30</a:t>
            </a:r>
          </a:p>
          <a:p>
            <a:r>
              <a:t>内容性质：实践启示及自主拓展</a:t>
            </a:r>
          </a:p>
          <a:p>
            <a:r>
              <a:t>来源：原文第413页；讲稿第14段</a:t>
            </a:r>
          </a:p>
          <a:p/>
          <a:p>
            <a:r>
              <a:t>最后看管理启示。作者并不认为ICTs完全无法改变，而是指出它们难以改变，且许多干预效果可能短暂。</a:t>
            </a:r>
          </a:p>
          <a:p/>
          <a:p>
            <a:r>
              <a:t>作者提出三类路径。第一，提供与负面原型相反的信息，例如真实的积极互动事例，或者通过换位思考看到公民的处境。第二，降低认知负荷。工作人员长时间疲惫、面对超额工作量时，可能更依赖简化判断，所以人员配置和工作设计也与公平有关。第三，明确行为目标和互动规范，并在接触公民之前反复提醒，而不是只做一次抽象培训。</a:t>
            </a:r>
          </a:p>
          <a:p/>
          <a:p>
            <a:r>
              <a:t>更进一步，作者把视角转向public service ecosystem，也就是公共服务生态系统。公民的行为不是凭空出现的，而是与生活经历、制度流程、其他服务机构共同形成。如果组织只追求尽快完成一笔交易，就更容易把沟通困难解释为个人特征；如果组织把公民视为公共价值共同创造者，就更可能关注他为什么遇到困难。</a:t>
            </a:r>
          </a:p>
          <a:p/>
          <a:p>
            <a:r>
              <a:t>我的拓展是，同时改善认知与流程：提供清晰说明与数字服务协助，通过申诉、复核检查真实待遇。这些建议仍需实际评估。</a:t>
            </a:r>
          </a:p>
          <a:p/>
          <a:p>
            <a:r>
              <a:t>最后，好感不能替代程序保障。公平行政要求，工作人员即使不喜欢某人的表达方式，也能依规则处理其合法请求。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建议时段：29:30–30:00</a:t>
            </a:r>
          </a:p>
          <a:p>
            <a:r>
              <a:t>内容性质：汇报总结</a:t>
            </a:r>
          </a:p>
          <a:p>
            <a:r>
              <a:t>来源：讲稿第15段；原文结语第414页</a:t>
            </a:r>
          </a:p>
          <a:p/>
          <a:p>
            <a:r>
              <a:t>今天我想留下三个判断。第一，这篇文章发现的是六个公民认知原型，不是六类互斥的真实公民。第二，它较有力地建构并验证了认知结构，但没有直接证明对真实待遇的因果影响。第三，从比较公共管理看，下一步值得研究的是行政传统和组织情境如何影响认知，以及认知何时进入服务行为。我的汇报到这里，谢谢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建议时段：备份，不计入正式讲述</a:t>
            </a:r>
          </a:p>
          <a:p>
            <a:r>
              <a:t>内容性质：参考文献</a:t>
            </a:r>
          </a:p>
          <a:p>
            <a:r>
              <a:t>来源：原文参考文献第414–416页</a:t>
            </a:r>
          </a:p>
          <a:p/>
          <a:p>
            <a:r>
              <a:t>备份页，不计入正式30分钟。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建议时段：备份，不计入正式讲述</a:t>
            </a:r>
          </a:p>
          <a:p>
            <a:r>
              <a:t>内容性质：备份数据</a:t>
            </a:r>
          </a:p>
          <a:p>
            <a:r>
              <a:t>来源：原文附录B，第418页</a:t>
            </a:r>
          </a:p>
          <a:p/>
          <a:p>
            <a:r>
              <a:t>备份页，不计入正式30分钟。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建议时段：备份，不计入正式讲述</a:t>
            </a:r>
          </a:p>
          <a:p>
            <a:r>
              <a:t>内容性质：备份数据</a:t>
            </a:r>
          </a:p>
          <a:p>
            <a:r>
              <a:t>来源：原文表1，第407页；原表内容照录。</a:t>
            </a:r>
          </a:p>
          <a:p/>
          <a:p>
            <a:r>
              <a:t>备份页，不计入正式30分钟。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建议时段：备份，不计入正式讲述</a:t>
            </a:r>
          </a:p>
          <a:p>
            <a:r>
              <a:t>内容性质：备份数据</a:t>
            </a:r>
          </a:p>
          <a:p>
            <a:r>
              <a:t>来源：原文表2，第409页；原表内容照录。</a:t>
            </a:r>
          </a:p>
          <a:p/>
          <a:p>
            <a:r>
              <a:t>备份页，不计入正式30分钟。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建议时段：备份，不计入正式讲述</a:t>
            </a:r>
          </a:p>
          <a:p>
            <a:r>
              <a:t>内容性质：问答</a:t>
            </a:r>
          </a:p>
          <a:p>
            <a:r>
              <a:t>来源：讲稿备答；原文方法与局限</a:t>
            </a:r>
          </a:p>
          <a:p/>
          <a:p>
            <a:r>
              <a:t>备份页，不计入正式30分钟。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485775"/>
            <a:ext cx="514350" cy="47625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285875" y="342900"/>
            <a:ext cx="480340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75" dirty="0">
                <a:solidFill>
                  <a:srgbClr val="42604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· 文献组会汇报</a:t>
            </a:r>
            <a:endParaRPr lang="en-US" sz="1875" dirty="0"/>
          </a:p>
        </p:txBody>
      </p:sp>
      <p:sp>
        <p:nvSpPr>
          <p:cNvPr id="5" name="Text 3"/>
          <p:cNvSpPr/>
          <p:nvPr/>
        </p:nvSpPr>
        <p:spPr>
          <a:xfrm>
            <a:off x="609600" y="1400175"/>
            <a:ext cx="4352696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825"/>
              </a:lnSpc>
              <a:buNone/>
            </a:pPr>
            <a:r>
              <a:rPr lang="en-US" sz="487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公务人员如何</a:t>
            </a:r>
            <a:endParaRPr lang="en-US" sz="4875" dirty="0"/>
          </a:p>
          <a:p>
            <a:pPr algn="l" indent="0" marL="0">
              <a:lnSpc>
                <a:spcPts val="6825"/>
              </a:lnSpc>
              <a:buNone/>
            </a:pPr>
            <a:r>
              <a:rPr lang="en-US" sz="487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“看见”公民？</a:t>
            </a:r>
            <a:endParaRPr lang="en-US" sz="4875" dirty="0"/>
          </a:p>
        </p:txBody>
      </p:sp>
      <p:sp>
        <p:nvSpPr>
          <p:cNvPr id="6" name="Text 4"/>
          <p:cNvSpPr/>
          <p:nvPr/>
        </p:nvSpPr>
        <p:spPr>
          <a:xfrm>
            <a:off x="647700" y="33528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344B3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内隐公民理论：文献解读与比较拓展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647700" y="4362450"/>
            <a:ext cx="47625" cy="400050"/>
          </a:xfrm>
          <a:prstGeom prst="rect">
            <a:avLst/>
          </a:prstGeom>
          <a:solidFill>
            <a:srgbClr val="8D9E7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6775" y="4333875"/>
            <a:ext cx="408066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100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六个认知原型，而非六类互斥的人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8934450" y="1657350"/>
            <a:ext cx="2628900" cy="9525"/>
          </a:xfrm>
          <a:prstGeom prst="rect">
            <a:avLst/>
          </a:prstGeom>
          <a:solidFill>
            <a:srgbClr val="CFDB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086850" y="1743075"/>
            <a:ext cx="1094815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1875" dirty="0">
                <a:solidFill>
                  <a:srgbClr val="637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Kindness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8934450" y="2200275"/>
            <a:ext cx="2628900" cy="9525"/>
          </a:xfrm>
          <a:prstGeom prst="rect">
            <a:avLst/>
          </a:prstGeom>
          <a:solidFill>
            <a:srgbClr val="CFDB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086850" y="2286000"/>
            <a:ext cx="1471746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1875" dirty="0">
                <a:solidFill>
                  <a:srgbClr val="637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8934450" y="2743200"/>
            <a:ext cx="2628900" cy="9525"/>
          </a:xfrm>
          <a:prstGeom prst="rect">
            <a:avLst/>
          </a:prstGeom>
          <a:solidFill>
            <a:srgbClr val="CFDB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086850" y="2828925"/>
            <a:ext cx="1430000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1875" dirty="0">
                <a:solidFill>
                  <a:srgbClr val="637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Foreignness</a:t>
            </a:r>
            <a:endParaRPr lang="en-US" sz="1875" dirty="0"/>
          </a:p>
        </p:txBody>
      </p:sp>
      <p:sp>
        <p:nvSpPr>
          <p:cNvPr id="15" name="Text 13"/>
          <p:cNvSpPr/>
          <p:nvPr/>
        </p:nvSpPr>
        <p:spPr>
          <a:xfrm>
            <a:off x="8934450" y="3286125"/>
            <a:ext cx="2628900" cy="9525"/>
          </a:xfrm>
          <a:prstGeom prst="rect">
            <a:avLst/>
          </a:prstGeom>
          <a:solidFill>
            <a:srgbClr val="CFDB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086850" y="3371850"/>
            <a:ext cx="1161609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1875" dirty="0">
                <a:solidFill>
                  <a:srgbClr val="637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Reticence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8934450" y="3829050"/>
            <a:ext cx="2628900" cy="9525"/>
          </a:xfrm>
          <a:prstGeom prst="rect">
            <a:avLst/>
          </a:prstGeom>
          <a:solidFill>
            <a:srgbClr val="CFDB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086850" y="3914775"/>
            <a:ext cx="1213071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1875" dirty="0">
                <a:solidFill>
                  <a:srgbClr val="637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Neediness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8934450" y="4371975"/>
            <a:ext cx="2628900" cy="9525"/>
          </a:xfrm>
          <a:prstGeom prst="rect">
            <a:avLst/>
          </a:prstGeom>
          <a:solidFill>
            <a:srgbClr val="CFDB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086850" y="4457700"/>
            <a:ext cx="1742262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3"/>
              </a:lnSpc>
              <a:buNone/>
            </a:pPr>
            <a:r>
              <a:rPr lang="en-US" sz="1875" dirty="0">
                <a:solidFill>
                  <a:srgbClr val="6379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Determination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8934450" y="4914900"/>
            <a:ext cx="2628900" cy="9525"/>
          </a:xfrm>
          <a:prstGeom prst="rect">
            <a:avLst/>
          </a:prstGeom>
          <a:solidFill>
            <a:srgbClr val="CFDBC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9600" y="5524500"/>
            <a:ext cx="10972800" cy="9525"/>
          </a:xfrm>
          <a:prstGeom prst="rect">
            <a:avLst/>
          </a:prstGeom>
          <a:solidFill>
            <a:srgbClr val="C8D0B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47700" y="5705475"/>
            <a:ext cx="767524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575" dirty="0">
                <a:solidFill>
                  <a:srgbClr val="1D30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Vogel et al. · Public Administration Review · 2025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647700" y="6067425"/>
            <a:ext cx="631507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DOI: 10.1111/puar.13844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086850" y="5915025"/>
            <a:ext cx="174879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575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汇报人：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10067925" y="6210300"/>
            <a:ext cx="1476375" cy="9525"/>
          </a:xfrm>
          <a:prstGeom prst="rect">
            <a:avLst/>
          </a:prstGeom>
          <a:solidFill>
            <a:srgbClr val="AEBCA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课堂解释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相同资格，为什么可能得到不同解释？</a:t>
            </a:r>
            <a:endParaRPr lang="en-US" sz="3225" dirty="0"/>
          </a:p>
        </p:txBody>
      </p:sp>
      <p:sp>
        <p:nvSpPr>
          <p:cNvPr id="6" name="Text 4"/>
          <p:cNvSpPr/>
          <p:nvPr/>
        </p:nvSpPr>
        <p:spPr>
          <a:xfrm>
            <a:off x="609600" y="2152650"/>
            <a:ext cx="10972800" cy="581025"/>
          </a:xfrm>
          <a:prstGeom prst="rect">
            <a:avLst/>
          </a:prstGeom>
          <a:solidFill>
            <a:srgbClr val="E7ED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19150" y="2286000"/>
            <a:ext cx="10492740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6"/>
              </a:lnSpc>
              <a:buNone/>
            </a:pPr>
            <a:r>
              <a:rPr lang="en-US" sz="202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假设场景：相同服务、相同材料与资格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6057900" y="2952750"/>
            <a:ext cx="9525" cy="2190750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3048000"/>
            <a:ext cx="4857750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客气且准备充分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609600" y="3600450"/>
            <a:ext cx="4954905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6"/>
              </a:lnSpc>
              <a:buNone/>
            </a:pPr>
            <a:r>
              <a:rPr lang="en-US" sz="20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提前整理材料，沟通较温和。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6572250" y="3048000"/>
            <a:ext cx="5052060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焦虑并坚持获得解释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6572250" y="3600450"/>
            <a:ext cx="4954905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6"/>
              </a:lnSpc>
              <a:buNone/>
            </a:pPr>
            <a:r>
              <a:rPr lang="en-US" sz="20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反复追问办理时间，要求说明程序。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609600" y="4876800"/>
            <a:ext cx="10978515" cy="446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4"/>
              </a:lnSpc>
              <a:buNone/>
            </a:pPr>
            <a:r>
              <a:rPr lang="en-US" sz="247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工作人员是在回应资格条件，还是心中的标签？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609600" y="5448300"/>
            <a:ext cx="10687050" cy="2704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30"/>
              </a:lnSpc>
              <a:buNone/>
            </a:pPr>
            <a:r>
              <a:rPr lang="en-US" sz="15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课堂解释用的自拟场景，不是原文实证案例。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讲稿第1段；自拟解释场景，不是论文案例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研究问题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已有研究观察“信号—回应”，本文打开认知黑箱</a:t>
            </a:r>
            <a:endParaRPr lang="en-US" sz="3225" dirty="0"/>
          </a:p>
        </p:txBody>
      </p:sp>
      <p:sp>
        <p:nvSpPr>
          <p:cNvPr id="6" name="Text 4"/>
          <p:cNvSpPr/>
          <p:nvPr/>
        </p:nvSpPr>
        <p:spPr>
          <a:xfrm>
            <a:off x="609600" y="2085975"/>
            <a:ext cx="1943100" cy="32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6"/>
              </a:lnSpc>
              <a:buNone/>
            </a:pPr>
            <a:r>
              <a:rPr lang="en-US" sz="18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已有研究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81300" y="2038350"/>
            <a:ext cx="2234565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公民信号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5419725" y="2028825"/>
            <a:ext cx="728663" cy="513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47"/>
              </a:lnSpc>
              <a:buNone/>
            </a:pPr>
            <a:r>
              <a:rPr lang="en-US" sz="2850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6905625" y="2038350"/>
            <a:ext cx="4274820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工作人员回应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609600" y="2686050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600" y="3019425"/>
            <a:ext cx="1943100" cy="32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6"/>
              </a:lnSpc>
              <a:buNone/>
            </a:pPr>
            <a:r>
              <a:rPr lang="en-US" sz="18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本文推进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19375" y="2924175"/>
            <a:ext cx="1282446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信号</a:t>
            </a:r>
            <a:endParaRPr lang="en-US" sz="2325" dirty="0"/>
          </a:p>
        </p:txBody>
      </p:sp>
      <p:sp>
        <p:nvSpPr>
          <p:cNvPr id="13" name="Text 11"/>
          <p:cNvSpPr/>
          <p:nvPr/>
        </p:nvSpPr>
        <p:spPr>
          <a:xfrm>
            <a:off x="4019550" y="2924175"/>
            <a:ext cx="582930" cy="486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34"/>
              </a:lnSpc>
              <a:buNone/>
            </a:pPr>
            <a:r>
              <a:rPr lang="en-US" sz="2700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4953000" y="2924175"/>
            <a:ext cx="3303270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认知解释框架</a:t>
            </a:r>
            <a:endParaRPr lang="en-US" sz="2325" dirty="0"/>
          </a:p>
        </p:txBody>
      </p:sp>
      <p:sp>
        <p:nvSpPr>
          <p:cNvPr id="15" name="Text 13"/>
          <p:cNvSpPr/>
          <p:nvPr/>
        </p:nvSpPr>
        <p:spPr>
          <a:xfrm>
            <a:off x="8162925" y="2924175"/>
            <a:ext cx="582930" cy="486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34"/>
              </a:lnSpc>
              <a:buNone/>
            </a:pPr>
            <a:r>
              <a:rPr lang="en-US" sz="2700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353550" y="2924175"/>
            <a:ext cx="2040255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回应</a:t>
            </a:r>
            <a:endParaRPr lang="en-US" sz="2325" dirty="0"/>
          </a:p>
        </p:txBody>
      </p:sp>
      <p:sp>
        <p:nvSpPr>
          <p:cNvPr id="17" name="Text 15"/>
          <p:cNvSpPr/>
          <p:nvPr/>
        </p:nvSpPr>
        <p:spPr>
          <a:xfrm>
            <a:off x="609600" y="4162425"/>
            <a:ext cx="1088136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已有线索：性别、族群、阶层、动机与deservingness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09600" y="4819650"/>
            <a:ext cx="1088136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研究缺口：工作人员带入工作的广泛公民认知结构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09600" y="5362575"/>
            <a:ext cx="10881360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3"/>
              </a:lnSpc>
              <a:buNone/>
            </a:pPr>
            <a:r>
              <a:rPr lang="en-US" sz="187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本文关注：同一线索如何被不同解释框架理解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原文第403–404页；讲稿第2段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理论概念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ICTs把属性、原型与日常理论组织起来</a:t>
            </a:r>
            <a:endParaRPr lang="en-US" sz="3225" dirty="0"/>
          </a:p>
        </p:txBody>
      </p:sp>
      <p:sp>
        <p:nvSpPr>
          <p:cNvPr id="6" name="Text 4"/>
          <p:cNvSpPr/>
          <p:nvPr/>
        </p:nvSpPr>
        <p:spPr>
          <a:xfrm>
            <a:off x="609600" y="2390775"/>
            <a:ext cx="3381375" cy="2076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8200" y="2619375"/>
            <a:ext cx="2934081" cy="470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属性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838200" y="3314700"/>
            <a:ext cx="2934081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6"/>
              </a:lnSpc>
              <a:buNone/>
            </a:pPr>
            <a:r>
              <a:rPr lang="en-US" sz="20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礼貌、焦虑、有动力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4048125" y="3067050"/>
            <a:ext cx="330327" cy="419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2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4381500" y="2390775"/>
            <a:ext cx="3381375" cy="20764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610100" y="2619375"/>
            <a:ext cx="2934081" cy="470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原型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4610100" y="3314700"/>
            <a:ext cx="2934081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6"/>
              </a:lnSpc>
              <a:buNone/>
            </a:pPr>
            <a:r>
              <a:rPr lang="en-US" sz="20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语义相关的属性簇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7820025" y="3067050"/>
            <a:ext cx="330327" cy="419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2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325" dirty="0"/>
          </a:p>
        </p:txBody>
      </p:sp>
      <p:sp>
        <p:nvSpPr>
          <p:cNvPr id="14" name="Text 12"/>
          <p:cNvSpPr/>
          <p:nvPr/>
        </p:nvSpPr>
        <p:spPr>
          <a:xfrm>
            <a:off x="8153400" y="2390775"/>
            <a:ext cx="3381375" cy="207645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82000" y="2619375"/>
            <a:ext cx="2934081" cy="4704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>
                <a:solidFill>
                  <a:srgbClr val="F6F3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ICTs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8382000" y="3314700"/>
            <a:ext cx="2934081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6"/>
              </a:lnSpc>
              <a:buNone/>
            </a:pPr>
            <a:r>
              <a:rPr lang="en-US" sz="2025" dirty="0">
                <a:solidFill>
                  <a:srgbClr val="F6F3E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多个相关原型的解释系统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609600" y="5010150"/>
            <a:ext cx="1107567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Implicit Citizenship Theories：关于典型或理想公民的日常理论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09600" y="5448300"/>
            <a:ext cx="11075670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3"/>
              </a:lnSpc>
              <a:buNone/>
            </a:pPr>
            <a:r>
              <a:rPr lang="en-US" sz="16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此处ICTs不指信息通信技术。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原文第404–405页；讲稿第3段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理论概念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“内隐”不等于完全无意识，“公民”也不限于国籍</a:t>
            </a:r>
            <a:endParaRPr lang="en-US" sz="3225" dirty="0"/>
          </a:p>
        </p:txBody>
      </p:sp>
      <p:sp>
        <p:nvSpPr>
          <p:cNvPr id="6" name="Text 4"/>
          <p:cNvSpPr/>
          <p:nvPr/>
        </p:nvSpPr>
        <p:spPr>
          <a:xfrm>
            <a:off x="609600" y="2295525"/>
            <a:ext cx="4954905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加工方式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6515100" y="2295525"/>
            <a:ext cx="5052060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角色与期待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6067425" y="2247900"/>
            <a:ext cx="9525" cy="3238500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2933700"/>
            <a:ext cx="4954905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内隐认知常以快速、联想式加工起作用，但可部分反思。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09600" y="4095750"/>
            <a:ext cx="4954905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6"/>
              </a:lnSpc>
              <a:buNone/>
            </a:pPr>
            <a:r>
              <a:rPr lang="en-US" sz="202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Typical：通常是什么样</a:t>
            </a:r>
            <a:endParaRPr lang="en-US" sz="2025" dirty="0"/>
          </a:p>
          <a:p>
            <a:pPr algn="l" indent="0" marL="0">
              <a:lnSpc>
                <a:spcPts val="2876"/>
              </a:lnSpc>
              <a:buNone/>
            </a:pPr>
            <a:r>
              <a:rPr lang="en-US" sz="202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Ideal：最好是什么样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6515100" y="2933700"/>
            <a:ext cx="4954905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Citizen是工作人员日常理解的服务对象，也可能包括游客或移民。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515100" y="4333875"/>
            <a:ext cx="4954905" cy="351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9"/>
              </a:lnSpc>
              <a:buNone/>
            </a:pPr>
            <a:r>
              <a:rPr lang="en-US" sz="1950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典型与理想在本文测量中未被完全拆开。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原文第404–405页；讲稿第3段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理论机制及证据边界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认知原型可能连接线索与回应，但行为链条尚待检验</a:t>
            </a:r>
            <a:endParaRPr lang="en-US" sz="3225" dirty="0"/>
          </a:p>
        </p:txBody>
      </p:sp>
      <p:sp>
        <p:nvSpPr>
          <p:cNvPr id="6" name="Text 4"/>
          <p:cNvSpPr/>
          <p:nvPr/>
        </p:nvSpPr>
        <p:spPr>
          <a:xfrm>
            <a:off x="609600" y="2171700"/>
            <a:ext cx="3714750" cy="7143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28675" y="2333625"/>
            <a:ext cx="3342132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既往经验与社会化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05325" y="2343150"/>
            <a:ext cx="485775" cy="419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2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5229225" y="2171700"/>
            <a:ext cx="4191000" cy="714375"/>
          </a:xfrm>
          <a:prstGeom prst="rect">
            <a:avLst/>
          </a:prstGeom>
          <a:solidFill>
            <a:srgbClr val="E7ED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448300" y="2333625"/>
            <a:ext cx="3779329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储存的公民认知图式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153275" y="2952750"/>
            <a:ext cx="485775" cy="419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2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↓</a:t>
            </a:r>
            <a:endParaRPr lang="en-US" sz="2325" dirty="0"/>
          </a:p>
        </p:txBody>
      </p:sp>
      <p:sp>
        <p:nvSpPr>
          <p:cNvPr id="12" name="Text 10"/>
          <p:cNvSpPr/>
          <p:nvPr/>
        </p:nvSpPr>
        <p:spPr>
          <a:xfrm>
            <a:off x="609600" y="3448050"/>
            <a:ext cx="3286125" cy="7143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19150" y="3619500"/>
            <a:ext cx="2924365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具体互动中的线索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229225" y="3448050"/>
            <a:ext cx="4191000" cy="7143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438775" y="3619500"/>
            <a:ext cx="3847338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原型激活与目标匹配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4191000" y="3600450"/>
            <a:ext cx="631508" cy="419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2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325" dirty="0"/>
          </a:p>
        </p:txBody>
      </p:sp>
      <p:sp>
        <p:nvSpPr>
          <p:cNvPr id="17" name="Text 15"/>
          <p:cNvSpPr/>
          <p:nvPr/>
        </p:nvSpPr>
        <p:spPr>
          <a:xfrm>
            <a:off x="9582150" y="3600450"/>
            <a:ext cx="476060" cy="419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2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2325" dirty="0"/>
          </a:p>
        </p:txBody>
      </p:sp>
      <p:sp>
        <p:nvSpPr>
          <p:cNvPr id="18" name="Text 16"/>
          <p:cNvSpPr/>
          <p:nvPr/>
        </p:nvSpPr>
        <p:spPr>
          <a:xfrm>
            <a:off x="10201275" y="3419475"/>
            <a:ext cx="1399032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3"/>
              </a:lnSpc>
              <a:buNone/>
            </a:pPr>
            <a:r>
              <a:rPr lang="en-US" sz="187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可能的态度</a:t>
            </a:r>
            <a:endParaRPr lang="en-US" sz="1875" dirty="0"/>
          </a:p>
          <a:p>
            <a:pPr algn="l" indent="0" marL="0">
              <a:lnSpc>
                <a:spcPts val="2663"/>
              </a:lnSpc>
              <a:buNone/>
            </a:pPr>
            <a:r>
              <a:rPr lang="en-US" sz="187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与行为回应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609600" y="4667250"/>
            <a:ext cx="10978515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理论推演：原型可能帮助降低认知成本，也可能遗漏实际处境。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609600" y="5305425"/>
            <a:ext cx="10978515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6"/>
              </a:lnSpc>
              <a:buNone/>
            </a:pPr>
            <a:r>
              <a:rPr lang="en-US" sz="202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证据边界：本文直接验证认知结构，未检验整条行为因果链。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原文第405–406页；讲稿第4段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实证设计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四项独立研究依次生成、探索和验证结构</a:t>
            </a:r>
            <a:endParaRPr lang="en-US" sz="322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1952625"/>
            <a:ext cx="3162300" cy="3733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53025" y="2076450"/>
            <a:ext cx="6315075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1a：访谈生成属性，n=28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153025" y="2724150"/>
            <a:ext cx="619125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153025" y="2905125"/>
            <a:ext cx="6315075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1b：开放问卷补充属性，n=204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5153025" y="3552825"/>
            <a:ext cx="619125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153025" y="3733800"/>
            <a:ext cx="6315075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2：RRM＋EFA识别原型，n=611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153025" y="4381500"/>
            <a:ext cx="619125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153025" y="4562475"/>
            <a:ext cx="6315075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3：RRM＋CFA独立验证，n=860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5153025" y="5210175"/>
            <a:ext cx="619125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5153025" y="5391150"/>
            <a:ext cx="6315075" cy="31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9"/>
              </a:lnSpc>
              <a:buNone/>
            </a:pPr>
            <a:r>
              <a:rPr lang="en-US" sz="172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四个样本互相独立；不是对同一群人的四次追踪。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原文图1，第406页；讲稿第5段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实证设计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从558个不重复属性筛选为83个测量条目</a:t>
            </a:r>
            <a:endParaRPr lang="en-US" sz="3225" dirty="0"/>
          </a:p>
        </p:txBody>
      </p:sp>
      <p:sp>
        <p:nvSpPr>
          <p:cNvPr id="6" name="Text 4"/>
          <p:cNvSpPr/>
          <p:nvPr/>
        </p:nvSpPr>
        <p:spPr>
          <a:xfrm>
            <a:off x="609600" y="2095500"/>
            <a:ext cx="2137410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3"/>
              </a:lnSpc>
              <a:buNone/>
            </a:pPr>
            <a:r>
              <a:rPr lang="en-US" sz="16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属性提及次数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048625" y="2095500"/>
            <a:ext cx="3206115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3"/>
              </a:lnSpc>
              <a:buNone/>
            </a:pPr>
            <a:r>
              <a:rPr lang="en-US" sz="16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不同属性数量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09600" y="2590800"/>
            <a:ext cx="6800850" cy="40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17"/>
              </a:lnSpc>
              <a:buNone/>
            </a:pPr>
            <a:r>
              <a:rPr lang="en-US" sz="247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访谈 829次 → 389个</a:t>
            </a:r>
            <a:endParaRPr lang="en-US" sz="2475" dirty="0"/>
          </a:p>
        </p:txBody>
      </p:sp>
      <p:sp>
        <p:nvSpPr>
          <p:cNvPr id="9" name="Text 7"/>
          <p:cNvSpPr/>
          <p:nvPr/>
        </p:nvSpPr>
        <p:spPr>
          <a:xfrm>
            <a:off x="8372475" y="2562225"/>
            <a:ext cx="2914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389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09600" y="3352800"/>
            <a:ext cx="6800850" cy="40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17"/>
              </a:lnSpc>
              <a:buNone/>
            </a:pPr>
            <a:r>
              <a:rPr lang="en-US" sz="247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问卷 923次 → 291个</a:t>
            </a:r>
            <a:endParaRPr lang="en-US" sz="2475" dirty="0"/>
          </a:p>
        </p:txBody>
      </p:sp>
      <p:sp>
        <p:nvSpPr>
          <p:cNvPr id="11" name="Text 9"/>
          <p:cNvSpPr/>
          <p:nvPr/>
        </p:nvSpPr>
        <p:spPr>
          <a:xfrm>
            <a:off x="8372475" y="3324225"/>
            <a:ext cx="2914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000500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9600" y="4391025"/>
            <a:ext cx="3206115" cy="408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17"/>
              </a:lnSpc>
              <a:buNone/>
            </a:pPr>
            <a:r>
              <a:rPr lang="en-US" sz="247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合并去重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4467225" y="4286250"/>
            <a:ext cx="2137410" cy="708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80"/>
              </a:lnSpc>
              <a:buNone/>
            </a:pPr>
            <a:r>
              <a:rPr lang="en-US" sz="4650" b="1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558</a:t>
            </a:r>
            <a:endParaRPr lang="en-US" sz="4650" dirty="0"/>
          </a:p>
        </p:txBody>
      </p:sp>
      <p:sp>
        <p:nvSpPr>
          <p:cNvPr id="15" name="Text 13"/>
          <p:cNvSpPr/>
          <p:nvPr/>
        </p:nvSpPr>
        <p:spPr>
          <a:xfrm>
            <a:off x="6800850" y="4419600"/>
            <a:ext cx="738378" cy="54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60"/>
              </a:lnSpc>
              <a:buNone/>
            </a:pPr>
            <a:r>
              <a:rPr lang="en-US" sz="3000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562975" y="4286250"/>
            <a:ext cx="2137410" cy="7085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80"/>
              </a:lnSpc>
              <a:buNone/>
            </a:pPr>
            <a:r>
              <a:rPr lang="en-US" sz="4650" b="1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83</a:t>
            </a:r>
            <a:endParaRPr lang="en-US" sz="4650" dirty="0"/>
          </a:p>
        </p:txBody>
      </p:sp>
      <p:sp>
        <p:nvSpPr>
          <p:cNvPr id="17" name="Text 15"/>
          <p:cNvSpPr/>
          <p:nvPr/>
        </p:nvSpPr>
        <p:spPr>
          <a:xfrm>
            <a:off x="609600" y="5257800"/>
            <a:ext cx="11075670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6"/>
              </a:lnSpc>
              <a:buNone/>
            </a:pPr>
            <a:r>
              <a:rPr lang="en-US" sz="20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联想网络核心85个，删除2个歧义词；最终83个正式测量条目。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原文第406–408页、图1；讲稿第5段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样本及适用范围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跨领域覆盖增强广度，但样本仍全部来自德国</a:t>
            </a:r>
            <a:endParaRPr lang="en-US" sz="3225" dirty="0"/>
          </a:p>
        </p:txBody>
      </p:sp>
      <p:sp>
        <p:nvSpPr>
          <p:cNvPr id="6" name="Text 4"/>
          <p:cNvSpPr/>
          <p:nvPr/>
        </p:nvSpPr>
        <p:spPr>
          <a:xfrm>
            <a:off x="609600" y="2286000"/>
            <a:ext cx="2234565" cy="31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9"/>
              </a:lnSpc>
              <a:buNone/>
            </a:pPr>
            <a:r>
              <a:rPr lang="en-US" sz="1725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研究1a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609600" y="2667000"/>
            <a:ext cx="2331720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60"/>
              </a:lnSpc>
              <a:buNone/>
            </a:pPr>
            <a:r>
              <a:rPr lang="en-US" sz="4800" b="1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067050" y="2295525"/>
            <a:ext cx="9525" cy="1143000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419475" y="2286000"/>
            <a:ext cx="2234565" cy="31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9"/>
              </a:lnSpc>
              <a:buNone/>
            </a:pPr>
            <a:r>
              <a:rPr lang="en-US" sz="1725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研究1b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3419475" y="2667000"/>
            <a:ext cx="2331720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60"/>
              </a:lnSpc>
              <a:buNone/>
            </a:pPr>
            <a:r>
              <a:rPr lang="en-US" sz="4800" b="1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204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5876925" y="2295525"/>
            <a:ext cx="9525" cy="1143000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29350" y="2286000"/>
            <a:ext cx="2234565" cy="31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9"/>
              </a:lnSpc>
              <a:buNone/>
            </a:pPr>
            <a:r>
              <a:rPr lang="en-US" sz="1725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研究2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6229350" y="2667000"/>
            <a:ext cx="2331720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60"/>
              </a:lnSpc>
              <a:buNone/>
            </a:pPr>
            <a:r>
              <a:rPr lang="en-US" sz="4800" b="1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611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686800" y="2295525"/>
            <a:ext cx="9525" cy="1143000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039225" y="2286000"/>
            <a:ext cx="2234565" cy="31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9"/>
              </a:lnSpc>
              <a:buNone/>
            </a:pPr>
            <a:r>
              <a:rPr lang="en-US" sz="1725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研究3</a:t>
            </a:r>
            <a:endParaRPr lang="en-US" sz="1725" dirty="0"/>
          </a:p>
        </p:txBody>
      </p:sp>
      <p:sp>
        <p:nvSpPr>
          <p:cNvPr id="16" name="Text 14"/>
          <p:cNvSpPr/>
          <p:nvPr/>
        </p:nvSpPr>
        <p:spPr>
          <a:xfrm>
            <a:off x="9039225" y="2667000"/>
            <a:ext cx="2331720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760"/>
              </a:lnSpc>
              <a:buNone/>
            </a:pPr>
            <a:r>
              <a:rPr lang="en-US" sz="4800" b="1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860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609600" y="3829050"/>
            <a:ext cx="1107567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覆盖多个公共服务领域及联邦、州、地方层级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09600" y="4362450"/>
            <a:ext cx="1107567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四项有效样本合计1703，不能合并成一份完整测量样本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09600" y="4895850"/>
            <a:ext cx="11075670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6"/>
              </a:lnSpc>
              <a:buNone/>
            </a:pPr>
            <a:r>
              <a:rPr lang="en-US" sz="20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德国：大陆法治传统、联邦制与公共部门专业化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609600" y="5438775"/>
            <a:ext cx="11075670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3"/>
              </a:lnSpc>
              <a:buNone/>
            </a:pPr>
            <a:r>
              <a:rPr lang="en-US" sz="187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跨岗位结构验证，不等于跨国可推广性</a:t>
            </a:r>
            <a:endParaRPr lang="en-US" sz="1875" dirty="0"/>
          </a:p>
        </p:txBody>
      </p:sp>
      <p:sp>
        <p:nvSpPr>
          <p:cNvPr id="21" name="Text 19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原文表1，第407页；情境说明第406页；讲稿第5段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测量方法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RRM用限时匹配判断减少反思性作答</a:t>
            </a:r>
            <a:endParaRPr lang="en-US" sz="3225" dirty="0"/>
          </a:p>
        </p:txBody>
      </p:sp>
      <p:sp>
        <p:nvSpPr>
          <p:cNvPr id="6" name="Text 4"/>
          <p:cNvSpPr/>
          <p:nvPr/>
        </p:nvSpPr>
        <p:spPr>
          <a:xfrm>
            <a:off x="609600" y="2238375"/>
            <a:ext cx="4981575" cy="2762250"/>
          </a:xfrm>
          <a:prstGeom prst="rect">
            <a:avLst/>
          </a:prstGeom>
          <a:solidFill>
            <a:srgbClr val="F6F3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66775" y="2543175"/>
            <a:ext cx="4537139" cy="420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公民 × 属性词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876300" y="3152775"/>
            <a:ext cx="4517708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6"/>
              </a:lnSpc>
              <a:buNone/>
            </a:pPr>
            <a:r>
              <a:rPr lang="en-US" sz="20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友好 / 焦虑 / 有动力……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1009650" y="4095750"/>
            <a:ext cx="1904238" cy="420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>
                <a:solidFill>
                  <a:srgbClr val="2456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3248025" y="4095750"/>
            <a:ext cx="2166557" cy="420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>
                <a:solidFill>
                  <a:srgbClr val="2456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match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609600" y="5181600"/>
            <a:ext cx="5071491" cy="2568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4"/>
              </a:lnSpc>
              <a:buNone/>
            </a:pPr>
            <a:r>
              <a:rPr lang="en-US" sz="1425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根据任务程序绘制的示意，非参与者实际截图。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276975" y="2257425"/>
            <a:ext cx="5207508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6"/>
              </a:lnSpc>
              <a:buNone/>
            </a:pPr>
            <a:r>
              <a:rPr lang="en-US" sz="20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随机呈现“公民”与83个属性词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6276975" y="3067050"/>
            <a:ext cx="5207508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6"/>
              </a:lnSpc>
              <a:buNone/>
            </a:pPr>
            <a:r>
              <a:rPr lang="en-US" sz="20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快速选择 Match / No match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6276975" y="3857625"/>
            <a:ext cx="5207508" cy="703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9"/>
              </a:lnSpc>
              <a:buNone/>
            </a:pPr>
            <a:r>
              <a:rPr lang="en-US" sz="195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保留300–10,000ms反应；研究2有效回答平均约1.38秒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276975" y="4762500"/>
            <a:ext cx="5207508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3"/>
              </a:lnSpc>
              <a:buNone/>
            </a:pPr>
            <a:r>
              <a:rPr lang="en-US" sz="187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限时匹配接近联想，不保证捕捉全部无意识偏见。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原文第408页；讲稿第6段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实证方法与结果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EFA得到六因子，并形成34项与17项两个版本</a:t>
            </a:r>
            <a:endParaRPr lang="en-US" sz="3225" dirty="0"/>
          </a:p>
        </p:txBody>
      </p:sp>
      <p:sp>
        <p:nvSpPr>
          <p:cNvPr id="6" name="Text 4"/>
          <p:cNvSpPr/>
          <p:nvPr/>
        </p:nvSpPr>
        <p:spPr>
          <a:xfrm>
            <a:off x="609600" y="2219325"/>
            <a:ext cx="4663440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3"/>
              </a:lnSpc>
              <a:buNone/>
            </a:pPr>
            <a:r>
              <a:rPr lang="en-US" sz="1875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六因子长版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609600" y="2609850"/>
            <a:ext cx="2234565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69"/>
              </a:lnSpc>
              <a:buNone/>
            </a:pPr>
            <a:r>
              <a:rPr lang="en-US" sz="5625" b="1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34</a:t>
            </a:r>
            <a:endParaRPr lang="en-US" sz="5625" dirty="0"/>
          </a:p>
        </p:txBody>
      </p:sp>
      <p:sp>
        <p:nvSpPr>
          <p:cNvPr id="8" name="Text 6"/>
          <p:cNvSpPr/>
          <p:nvPr/>
        </p:nvSpPr>
        <p:spPr>
          <a:xfrm>
            <a:off x="2905125" y="2819400"/>
            <a:ext cx="2263712" cy="405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5"/>
              </a:lnSpc>
              <a:buNone/>
            </a:pPr>
            <a:r>
              <a:rPr lang="en-US" sz="225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个属性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515100" y="2219325"/>
            <a:ext cx="4663440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3"/>
              </a:lnSpc>
              <a:buNone/>
            </a:pPr>
            <a:r>
              <a:rPr lang="en-US" sz="1875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实用短版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6515100" y="2609850"/>
            <a:ext cx="2234565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469"/>
              </a:lnSpc>
              <a:buNone/>
            </a:pPr>
            <a:r>
              <a:rPr lang="en-US" sz="5625" b="1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5625" dirty="0"/>
          </a:p>
        </p:txBody>
      </p:sp>
      <p:sp>
        <p:nvSpPr>
          <p:cNvPr id="11" name="Text 9"/>
          <p:cNvSpPr/>
          <p:nvPr/>
        </p:nvSpPr>
        <p:spPr>
          <a:xfrm>
            <a:off x="8810625" y="2819400"/>
            <a:ext cx="2302574" cy="405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5"/>
              </a:lnSpc>
              <a:buNone/>
            </a:pPr>
            <a:r>
              <a:rPr lang="en-US" sz="225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个属性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048375" y="2247900"/>
            <a:ext cx="9525" cy="1352550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9600" y="3867150"/>
            <a:ext cx="11075670" cy="392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9"/>
              </a:lnSpc>
              <a:buNone/>
            </a:pPr>
            <a:r>
              <a:rPr lang="en-US" sz="217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六因子解释54.4%方差；五因子方案为50.9%。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609600" y="4467225"/>
            <a:ext cx="11075670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6"/>
              </a:lnSpc>
              <a:buNone/>
            </a:pPr>
            <a:r>
              <a:rPr lang="en-US" sz="20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每因子保留三个高载荷属性；Foreignness仅两个，全部保留。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609600" y="5057775"/>
            <a:ext cx="11075670" cy="351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9"/>
              </a:lnSpc>
              <a:buNone/>
            </a:pPr>
            <a:r>
              <a:rPr lang="en-US" sz="195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二元回答 → 四分相关矩阵 → EFA；斜交旋转允许因子相关。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609600" y="5505450"/>
            <a:ext cx="11075670" cy="31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9"/>
              </a:lnSpc>
              <a:buNone/>
            </a:pPr>
            <a:r>
              <a:rPr lang="en-US" sz="172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因子分析识别属性维度，不是把参与者分成六群。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原文表2，第409页；方法第408页；讲稿第6段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实证结构及概念解释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六个原型是六副认知镜头，可以同时出现</a:t>
            </a:r>
            <a:endParaRPr lang="en-US" sz="3225" dirty="0"/>
          </a:p>
        </p:txBody>
      </p:sp>
      <p:sp>
        <p:nvSpPr>
          <p:cNvPr id="6" name="Text 4"/>
          <p:cNvSpPr/>
          <p:nvPr/>
        </p:nvSpPr>
        <p:spPr>
          <a:xfrm>
            <a:off x="609600" y="2247900"/>
            <a:ext cx="3449002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609600" y="2724150"/>
            <a:ext cx="3449002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参与投入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09600" y="3381375"/>
            <a:ext cx="333375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381500" y="2247900"/>
            <a:ext cx="3449002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Kindness</a:t>
            </a:r>
            <a:endParaRPr lang="en-US" sz="2325" dirty="0"/>
          </a:p>
        </p:txBody>
      </p:sp>
      <p:sp>
        <p:nvSpPr>
          <p:cNvPr id="10" name="Text 8"/>
          <p:cNvSpPr/>
          <p:nvPr/>
        </p:nvSpPr>
        <p:spPr>
          <a:xfrm>
            <a:off x="4381500" y="2724150"/>
            <a:ext cx="3449002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友善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381500" y="3381375"/>
            <a:ext cx="333375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153400" y="2247900"/>
            <a:ext cx="3449002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Determination</a:t>
            </a:r>
            <a:endParaRPr lang="en-US" sz="2325" dirty="0"/>
          </a:p>
        </p:txBody>
      </p:sp>
      <p:sp>
        <p:nvSpPr>
          <p:cNvPr id="13" name="Text 11"/>
          <p:cNvSpPr/>
          <p:nvPr/>
        </p:nvSpPr>
        <p:spPr>
          <a:xfrm>
            <a:off x="8153400" y="2724150"/>
            <a:ext cx="3449002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强势诉求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153400" y="3381375"/>
            <a:ext cx="333375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9600" y="3695700"/>
            <a:ext cx="3449002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Reticence</a:t>
            </a:r>
            <a:endParaRPr lang="en-US" sz="2325" dirty="0"/>
          </a:p>
        </p:txBody>
      </p:sp>
      <p:sp>
        <p:nvSpPr>
          <p:cNvPr id="16" name="Text 14"/>
          <p:cNvSpPr/>
          <p:nvPr/>
        </p:nvSpPr>
        <p:spPr>
          <a:xfrm>
            <a:off x="609600" y="4171950"/>
            <a:ext cx="3449002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内敛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09600" y="4829175"/>
            <a:ext cx="333375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381500" y="3695700"/>
            <a:ext cx="3449002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Neediness</a:t>
            </a:r>
            <a:endParaRPr lang="en-US" sz="2325" dirty="0"/>
          </a:p>
        </p:txBody>
      </p:sp>
      <p:sp>
        <p:nvSpPr>
          <p:cNvPr id="19" name="Text 17"/>
          <p:cNvSpPr/>
          <p:nvPr/>
        </p:nvSpPr>
        <p:spPr>
          <a:xfrm>
            <a:off x="4381500" y="4171950"/>
            <a:ext cx="3449002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求助困境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381500" y="4829175"/>
            <a:ext cx="333375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153400" y="3695700"/>
            <a:ext cx="3449002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Foreignness</a:t>
            </a:r>
            <a:endParaRPr lang="en-US" sz="2325" dirty="0"/>
          </a:p>
        </p:txBody>
      </p:sp>
      <p:sp>
        <p:nvSpPr>
          <p:cNvPr id="22" name="Text 20"/>
          <p:cNvSpPr/>
          <p:nvPr/>
        </p:nvSpPr>
        <p:spPr>
          <a:xfrm>
            <a:off x="8153400" y="4171950"/>
            <a:ext cx="3449002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外来性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8153400" y="4829175"/>
            <a:ext cx="333375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09600" y="5353050"/>
            <a:ext cx="1107567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一个公民可以既礼貌又焦虑，也可以既内向又认真准备。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原文第409–412页、附录B；讲稿第7段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原型解释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参与投入关注行动投入，友善关注互动方式</a:t>
            </a:r>
            <a:endParaRPr lang="en-US" sz="3225" dirty="0"/>
          </a:p>
        </p:txBody>
      </p:sp>
      <p:sp>
        <p:nvSpPr>
          <p:cNvPr id="6" name="Text 4"/>
          <p:cNvSpPr/>
          <p:nvPr/>
        </p:nvSpPr>
        <p:spPr>
          <a:xfrm>
            <a:off x="609600" y="2238375"/>
            <a:ext cx="505206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3"/>
              </a:lnSpc>
              <a:buNone/>
            </a:pPr>
            <a:r>
              <a:rPr lang="en-US" sz="2625" dirty="0">
                <a:solidFill>
                  <a:srgbClr val="2456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Engagement</a:t>
            </a:r>
            <a:endParaRPr lang="en-US" sz="2625" dirty="0"/>
          </a:p>
        </p:txBody>
      </p:sp>
      <p:sp>
        <p:nvSpPr>
          <p:cNvPr id="7" name="Text 5"/>
          <p:cNvSpPr/>
          <p:nvPr/>
        </p:nvSpPr>
        <p:spPr>
          <a:xfrm>
            <a:off x="609600" y="2714625"/>
            <a:ext cx="5052060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参与投入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609600" y="3352800"/>
            <a:ext cx="505206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motivated｜有动力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09600" y="3905250"/>
            <a:ext cx="505206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conscientious｜认真尽责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09600" y="4457700"/>
            <a:ext cx="505206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goal-driven｜目标导向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515100" y="2238375"/>
            <a:ext cx="505206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3"/>
              </a:lnSpc>
              <a:buNone/>
            </a:pPr>
            <a:r>
              <a:rPr lang="en-US" sz="2625" dirty="0">
                <a:solidFill>
                  <a:srgbClr val="2456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Kindness</a:t>
            </a:r>
            <a:endParaRPr lang="en-US" sz="2625" dirty="0"/>
          </a:p>
        </p:txBody>
      </p:sp>
      <p:sp>
        <p:nvSpPr>
          <p:cNvPr id="12" name="Text 10"/>
          <p:cNvSpPr/>
          <p:nvPr/>
        </p:nvSpPr>
        <p:spPr>
          <a:xfrm>
            <a:off x="6515100" y="2714625"/>
            <a:ext cx="5052060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友善</a:t>
            </a:r>
            <a:endParaRPr lang="en-US" sz="2325" dirty="0"/>
          </a:p>
        </p:txBody>
      </p:sp>
      <p:sp>
        <p:nvSpPr>
          <p:cNvPr id="13" name="Text 11"/>
          <p:cNvSpPr/>
          <p:nvPr/>
        </p:nvSpPr>
        <p:spPr>
          <a:xfrm>
            <a:off x="6515100" y="3352800"/>
            <a:ext cx="505206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friendly｜友好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515100" y="3905250"/>
            <a:ext cx="505206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polite｜有礼貌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515100" y="4457700"/>
            <a:ext cx="505206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nice｜和善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067425" y="2209800"/>
            <a:ext cx="9525" cy="29432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9600" y="5305425"/>
            <a:ext cx="11075670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3"/>
              </a:lnSpc>
              <a:buNone/>
            </a:pPr>
            <a:r>
              <a:rPr lang="en-US" sz="187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互动的友善不等于行动投入，两种维度可同时存在。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原文附录B，第418页；讨论第411–412页；讲稿第7段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原型解释＋自主评议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强势诉求不能自动等同无理，内敛也不等同不合作</a:t>
            </a:r>
            <a:endParaRPr lang="en-US" sz="3225" dirty="0"/>
          </a:p>
        </p:txBody>
      </p:sp>
      <p:sp>
        <p:nvSpPr>
          <p:cNvPr id="6" name="Text 4"/>
          <p:cNvSpPr/>
          <p:nvPr/>
        </p:nvSpPr>
        <p:spPr>
          <a:xfrm>
            <a:off x="609600" y="2238375"/>
            <a:ext cx="505206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3"/>
              </a:lnSpc>
              <a:buNone/>
            </a:pPr>
            <a:r>
              <a:rPr lang="en-US" sz="2625" dirty="0">
                <a:solidFill>
                  <a:srgbClr val="2456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Determination</a:t>
            </a:r>
            <a:endParaRPr lang="en-US" sz="2625" dirty="0"/>
          </a:p>
        </p:txBody>
      </p:sp>
      <p:sp>
        <p:nvSpPr>
          <p:cNvPr id="7" name="Text 5"/>
          <p:cNvSpPr/>
          <p:nvPr/>
        </p:nvSpPr>
        <p:spPr>
          <a:xfrm>
            <a:off x="609600" y="2714625"/>
            <a:ext cx="5052060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强势诉求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609600" y="3352800"/>
            <a:ext cx="505206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egoistic｜自我中心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09600" y="3905250"/>
            <a:ext cx="505206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demanding｜要求很多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09600" y="4457700"/>
            <a:ext cx="505206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assertive｜坚持己见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515100" y="2238375"/>
            <a:ext cx="505206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3"/>
              </a:lnSpc>
              <a:buNone/>
            </a:pPr>
            <a:r>
              <a:rPr lang="en-US" sz="2625" dirty="0">
                <a:solidFill>
                  <a:srgbClr val="2456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Reticence</a:t>
            </a:r>
            <a:endParaRPr lang="en-US" sz="2625" dirty="0"/>
          </a:p>
        </p:txBody>
      </p:sp>
      <p:sp>
        <p:nvSpPr>
          <p:cNvPr id="12" name="Text 10"/>
          <p:cNvSpPr/>
          <p:nvPr/>
        </p:nvSpPr>
        <p:spPr>
          <a:xfrm>
            <a:off x="6515100" y="2714625"/>
            <a:ext cx="5052060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内敛</a:t>
            </a:r>
            <a:endParaRPr lang="en-US" sz="2325" dirty="0"/>
          </a:p>
        </p:txBody>
      </p:sp>
      <p:sp>
        <p:nvSpPr>
          <p:cNvPr id="13" name="Text 11"/>
          <p:cNvSpPr/>
          <p:nvPr/>
        </p:nvSpPr>
        <p:spPr>
          <a:xfrm>
            <a:off x="6515100" y="3352800"/>
            <a:ext cx="505206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shy｜害羞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515100" y="3905250"/>
            <a:ext cx="505206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reserved｜拘谨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515100" y="4457700"/>
            <a:ext cx="505206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introvert｜内向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6067425" y="2209800"/>
            <a:ext cx="9525" cy="29432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9600" y="5305425"/>
            <a:ext cx="11075670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3"/>
              </a:lnSpc>
              <a:buNone/>
            </a:pPr>
            <a:r>
              <a:rPr lang="en-US" sz="187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自主评议：正当权利表达与攻击行为应区分；内敛不等于不合作。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原文附录B、第412页；规范性追问为讲稿拓展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原型解释及边界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求助困境与外来性不能替代资格和歧视测量</a:t>
            </a:r>
            <a:endParaRPr lang="en-US" sz="3225" dirty="0"/>
          </a:p>
        </p:txBody>
      </p:sp>
      <p:sp>
        <p:nvSpPr>
          <p:cNvPr id="6" name="Text 4"/>
          <p:cNvSpPr/>
          <p:nvPr/>
        </p:nvSpPr>
        <p:spPr>
          <a:xfrm>
            <a:off x="609600" y="2238375"/>
            <a:ext cx="505206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3"/>
              </a:lnSpc>
              <a:buNone/>
            </a:pPr>
            <a:r>
              <a:rPr lang="en-US" sz="2625" dirty="0">
                <a:solidFill>
                  <a:srgbClr val="2456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Neediness</a:t>
            </a:r>
            <a:endParaRPr lang="en-US" sz="2625" dirty="0"/>
          </a:p>
        </p:txBody>
      </p:sp>
      <p:sp>
        <p:nvSpPr>
          <p:cNvPr id="7" name="Text 5"/>
          <p:cNvSpPr/>
          <p:nvPr/>
        </p:nvSpPr>
        <p:spPr>
          <a:xfrm>
            <a:off x="609600" y="2714625"/>
            <a:ext cx="5052060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求助困境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609600" y="3352800"/>
            <a:ext cx="505206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desperate｜绝望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09600" y="3905250"/>
            <a:ext cx="505206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anxious｜焦虑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09600" y="4457700"/>
            <a:ext cx="505206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worried｜担忧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515100" y="2238375"/>
            <a:ext cx="5052060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3"/>
              </a:lnSpc>
              <a:buNone/>
            </a:pPr>
            <a:r>
              <a:rPr lang="en-US" sz="2625" dirty="0">
                <a:solidFill>
                  <a:srgbClr val="2456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Foreignness</a:t>
            </a:r>
            <a:endParaRPr lang="en-US" sz="2625" dirty="0"/>
          </a:p>
        </p:txBody>
      </p:sp>
      <p:sp>
        <p:nvSpPr>
          <p:cNvPr id="12" name="Text 10"/>
          <p:cNvSpPr/>
          <p:nvPr/>
        </p:nvSpPr>
        <p:spPr>
          <a:xfrm>
            <a:off x="6515100" y="2714625"/>
            <a:ext cx="5052060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外来性</a:t>
            </a:r>
            <a:endParaRPr lang="en-US" sz="2325" dirty="0"/>
          </a:p>
        </p:txBody>
      </p:sp>
      <p:sp>
        <p:nvSpPr>
          <p:cNvPr id="13" name="Text 11"/>
          <p:cNvSpPr/>
          <p:nvPr/>
        </p:nvSpPr>
        <p:spPr>
          <a:xfrm>
            <a:off x="6515100" y="3352800"/>
            <a:ext cx="505206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non-native｜非本国本土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515100" y="3905250"/>
            <a:ext cx="505206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foreign-language｜使用外语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067425" y="2209800"/>
            <a:ext cx="9525" cy="29432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5305425"/>
            <a:ext cx="11075670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3"/>
              </a:lnSpc>
              <a:buNone/>
            </a:pPr>
            <a:r>
              <a:rPr lang="en-US" sz="187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求助困境不是已核实的救助资格；外来性不是对群体的全面态度。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原文附录B、第412页；讲稿第7段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实证验证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独立CFA更支持17属性的一阶六因子模型</a:t>
            </a:r>
            <a:endParaRPr lang="en-US" sz="322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464" y="1885950"/>
            <a:ext cx="3375422" cy="38004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57775" y="2124075"/>
            <a:ext cx="6412230" cy="420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独立样本 n=860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5057775" y="2657475"/>
            <a:ext cx="6412230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6"/>
              </a:lnSpc>
              <a:buNone/>
            </a:pPr>
            <a:r>
              <a:rPr lang="en-US" sz="20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稳健DWLS · 一阶六因子模型</a:t>
            </a:r>
            <a:endParaRPr lang="en-US" sz="2025" dirty="0"/>
          </a:p>
        </p:txBody>
      </p:sp>
      <p:sp>
        <p:nvSpPr>
          <p:cNvPr id="9" name="Text 6"/>
          <p:cNvSpPr/>
          <p:nvPr/>
        </p:nvSpPr>
        <p:spPr>
          <a:xfrm>
            <a:off x="5057775" y="3276600"/>
            <a:ext cx="6315075" cy="432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8"/>
              </a:lnSpc>
              <a:buNone/>
            </a:pPr>
            <a:r>
              <a:rPr lang="en-US" sz="2400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34项 → 17项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057775" y="3781425"/>
            <a:ext cx="6315075" cy="784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9"/>
              </a:lnSpc>
              <a:buNone/>
            </a:pPr>
            <a:r>
              <a:rPr lang="en-US" sz="217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CFI .866 → .960</a:t>
            </a:r>
            <a:endParaRPr lang="en-US" sz="2175" dirty="0"/>
          </a:p>
          <a:p>
            <a:pPr algn="l" indent="0" marL="0">
              <a:lnSpc>
                <a:spcPts val="3089"/>
              </a:lnSpc>
              <a:buNone/>
            </a:pPr>
            <a:r>
              <a:rPr lang="en-US" sz="217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RMSEA .082 → .049</a:t>
            </a:r>
            <a:endParaRPr lang="en-US" sz="2175" dirty="0"/>
          </a:p>
        </p:txBody>
      </p:sp>
      <p:sp>
        <p:nvSpPr>
          <p:cNvPr id="11" name="Text 8"/>
          <p:cNvSpPr/>
          <p:nvPr/>
        </p:nvSpPr>
        <p:spPr>
          <a:xfrm>
            <a:off x="5057775" y="4724400"/>
            <a:ext cx="6315075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6"/>
              </a:lnSpc>
              <a:buNone/>
            </a:pPr>
            <a:r>
              <a:rPr lang="en-US" sz="20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短版：TLI .948；SRMR .067</a:t>
            </a:r>
            <a:endParaRPr lang="en-US" sz="2025" dirty="0"/>
          </a:p>
        </p:txBody>
      </p:sp>
      <p:sp>
        <p:nvSpPr>
          <p:cNvPr id="12" name="Text 9"/>
          <p:cNvSpPr/>
          <p:nvPr/>
        </p:nvSpPr>
        <p:spPr>
          <a:xfrm>
            <a:off x="5057775" y="5248275"/>
            <a:ext cx="6412230" cy="32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6"/>
              </a:lnSpc>
              <a:buNone/>
            </a:pPr>
            <a:r>
              <a:rPr lang="en-US" sz="1800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双向线为相关；拟合优势不证明行为因果。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原文图2，第410页；指标第409页；讲稿第8段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2450" y="209550"/>
            <a:ext cx="11308842" cy="559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06"/>
              </a:lnSpc>
              <a:buNone/>
            </a:pPr>
            <a:r>
              <a:rPr lang="en-US" sz="3525" b="1" dirty="0">
                <a:solidFill>
                  <a:srgbClr val="1D3027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友善最正面，强势诉求明显负面</a:t>
            </a:r>
            <a:endParaRPr lang="en-US" sz="3525" dirty="0"/>
          </a:p>
        </p:txBody>
      </p:sp>
      <p:sp>
        <p:nvSpPr>
          <p:cNvPr id="4" name="Text 2"/>
          <p:cNvSpPr/>
          <p:nvPr/>
        </p:nvSpPr>
        <p:spPr>
          <a:xfrm>
            <a:off x="571500" y="762000"/>
            <a:ext cx="6800850" cy="2738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6"/>
              </a:lnSpc>
              <a:buNone/>
            </a:pPr>
            <a:r>
              <a:rPr lang="en-US" sz="1725" dirty="0">
                <a:solidFill>
                  <a:srgbClr val="4B58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研究3 · 评价效价 Valence · n=860</a:t>
            </a:r>
            <a:endParaRPr lang="en-US" sz="1725" dirty="0"/>
          </a:p>
        </p:txBody>
      </p:sp>
      <p:sp>
        <p:nvSpPr>
          <p:cNvPr id="5" name="Text 3"/>
          <p:cNvSpPr/>
          <p:nvPr/>
        </p:nvSpPr>
        <p:spPr>
          <a:xfrm>
            <a:off x="9048750" y="781050"/>
            <a:ext cx="26231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5B64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原文图3，第411页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333625" y="1066800"/>
            <a:ext cx="7524750" cy="42100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5698" y="1066800"/>
            <a:ext cx="7060605" cy="42100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1500" y="5305425"/>
            <a:ext cx="11049000" cy="1905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571500" y="5381625"/>
            <a:ext cx="336156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75" dirty="0">
                <a:solidFill>
                  <a:srgbClr val="44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Kindness / Engagement：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571500" y="5667375"/>
            <a:ext cx="3361563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明显正面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4095750" y="5381625"/>
            <a:ext cx="325469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75" dirty="0">
                <a:solidFill>
                  <a:srgbClr val="44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Determination：</a:t>
            </a:r>
            <a:endParaRPr lang="en-US" sz="1875" dirty="0"/>
          </a:p>
        </p:txBody>
      </p:sp>
      <p:sp>
        <p:nvSpPr>
          <p:cNvPr id="12" name="Text 9"/>
          <p:cNvSpPr/>
          <p:nvPr/>
        </p:nvSpPr>
        <p:spPr>
          <a:xfrm>
            <a:off x="4095750" y="5667375"/>
            <a:ext cx="3254693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唯一明显负面的原型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7515225" y="5381625"/>
            <a:ext cx="4187381" cy="284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4"/>
              </a:lnSpc>
              <a:buNone/>
            </a:pPr>
            <a:r>
              <a:rPr lang="en-US" sz="1650" dirty="0">
                <a:solidFill>
                  <a:srgbClr val="4451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Foreignness / Reticence / Neediness：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515225" y="5666482"/>
            <a:ext cx="4187381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大致近中性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571500" y="6105525"/>
            <a:ext cx="11269980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9"/>
              </a:lnSpc>
              <a:buNone/>
            </a:pPr>
            <a:r>
              <a:rPr lang="en-US" sz="1575" dirty="0">
                <a:solidFill>
                  <a:srgbClr val="414D4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效价来自显性问卷；外来性近中性不等于没有歧视</a:t>
            </a:r>
            <a:endParaRPr lang="en-US" sz="15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事后分析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测量结构相近，不意味着个体评价与水平相同</a:t>
            </a:r>
            <a:endParaRPr lang="en-US" sz="3225" dirty="0"/>
          </a:p>
        </p:txBody>
      </p:sp>
      <p:sp>
        <p:nvSpPr>
          <p:cNvPr id="6" name="Text 4"/>
          <p:cNvSpPr/>
          <p:nvPr/>
        </p:nvSpPr>
        <p:spPr>
          <a:xfrm>
            <a:off x="609600" y="2257425"/>
            <a:ext cx="5003483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结构层面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6515100" y="2257425"/>
            <a:ext cx="5052060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个体层面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6067425" y="2219325"/>
            <a:ext cx="9525" cy="31337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2924175"/>
            <a:ext cx="5003483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给予福利 / 施加义务</a:t>
            </a:r>
            <a:endParaRPr lang="en-US" sz="2100" dirty="0"/>
          </a:p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公民接触程度不同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09600" y="3914775"/>
            <a:ext cx="5003483" cy="365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6"/>
              </a:lnSpc>
              <a:buNone/>
            </a:pPr>
            <a:r>
              <a:rPr lang="en-US" sz="20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作者未发现达到统计显著程度的测量差异。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6515100" y="2924175"/>
            <a:ext cx="5052060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性别、薪酬组与部分原型的显著性和效价有关联。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515100" y="4076700"/>
            <a:ext cx="5052060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6"/>
              </a:lnSpc>
              <a:buNone/>
            </a:pPr>
            <a:r>
              <a:rPr lang="en-US" sz="202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结构可比 ≠ 平均水平相同</a:t>
            </a:r>
            <a:endParaRPr lang="en-US" sz="2025" dirty="0"/>
          </a:p>
          <a:p>
            <a:pPr algn="l" indent="0" marL="0">
              <a:lnSpc>
                <a:spcPts val="2876"/>
              </a:lnSpc>
              <a:buNone/>
            </a:pPr>
            <a:r>
              <a:rPr lang="en-US" sz="202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回归关联 ≠ 因果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原文第410–411页；补充材料H/I未随PDF提供；讲稿第9段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学术贡献＋自主评议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贡献是建立认知框架，行为后果仍待验证</a:t>
            </a:r>
            <a:endParaRPr lang="en-US" sz="3225" dirty="0"/>
          </a:p>
        </p:txBody>
      </p:sp>
      <p:sp>
        <p:nvSpPr>
          <p:cNvPr id="6" name="Text 4"/>
          <p:cNvSpPr/>
          <p:nvPr/>
        </p:nvSpPr>
        <p:spPr>
          <a:xfrm>
            <a:off x="609600" y="2286000"/>
            <a:ext cx="341985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理论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9600" y="2924175"/>
            <a:ext cx="3419856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一般认知结构，补充信号—回应研究。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381500" y="2286000"/>
            <a:ext cx="341985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内容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381500" y="2924175"/>
            <a:ext cx="3419856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身份、互动风格与情绪共同进入公民认知。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153400" y="2286000"/>
            <a:ext cx="341985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方法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8153400" y="2924175"/>
            <a:ext cx="3419856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自由生成、网络筛选、限时测量与独立验证。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09600" y="452437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9600" y="4810125"/>
            <a:ext cx="2331720" cy="351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9"/>
              </a:lnSpc>
              <a:buNone/>
            </a:pPr>
            <a:r>
              <a:rPr lang="en-US" sz="19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证据边界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3114675" y="4752975"/>
            <a:ext cx="8471916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未随机改变ICTs并观察真实差别待遇；干预建议也不是本文的实验结果。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原文讨论第411–414页；讲稿第10段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批判性评议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常见性、测量便捷性与规范重要性并不相同</a:t>
            </a:r>
            <a:endParaRPr lang="en-US" sz="3225" dirty="0"/>
          </a:p>
        </p:txBody>
      </p:sp>
      <p:sp>
        <p:nvSpPr>
          <p:cNvPr id="6" name="Text 4"/>
          <p:cNvSpPr/>
          <p:nvPr/>
        </p:nvSpPr>
        <p:spPr>
          <a:xfrm>
            <a:off x="609600" y="2257425"/>
            <a:ext cx="230257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内容覆盖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3114675" y="2257425"/>
            <a:ext cx="840390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网络核心可能遗漏少见但严重的排斥联想。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09600" y="311467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3314700"/>
            <a:ext cx="230257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测量含义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3114675" y="3314700"/>
            <a:ext cx="8403907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二元判断、典型/理想混合、两指标外来性及异常值处理，都需继续检验。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09600" y="4171950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600" y="4371975"/>
            <a:ext cx="230257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公平规范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3114675" y="4371975"/>
            <a:ext cx="8403907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工作人员觉得可取，不代表可以据此优待；合法权利表达不是攻击行为。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09600" y="52292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原文局限第413–414页；讲稿第11段自主评议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比较公共管理拓展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跨国比较要先比较概念，再比较分数</a:t>
            </a:r>
            <a:endParaRPr lang="en-US" sz="3225" dirty="0"/>
          </a:p>
        </p:txBody>
      </p:sp>
      <p:sp>
        <p:nvSpPr>
          <p:cNvPr id="6" name="Text 4"/>
          <p:cNvSpPr/>
          <p:nvPr/>
        </p:nvSpPr>
        <p:spPr>
          <a:xfrm>
            <a:off x="609600" y="2314575"/>
            <a:ext cx="3419856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3"/>
              </a:lnSpc>
              <a:buNone/>
            </a:pPr>
            <a:r>
              <a:rPr lang="en-US" sz="262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概念</a:t>
            </a:r>
            <a:endParaRPr lang="en-US" sz="2625" dirty="0"/>
          </a:p>
        </p:txBody>
      </p:sp>
      <p:sp>
        <p:nvSpPr>
          <p:cNvPr id="7" name="Text 5"/>
          <p:cNvSpPr/>
          <p:nvPr/>
        </p:nvSpPr>
        <p:spPr>
          <a:xfrm>
            <a:off x="609600" y="2962275"/>
            <a:ext cx="3419856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两国自由生成属性，找共同与特有维度。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381500" y="2314575"/>
            <a:ext cx="3419856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3"/>
              </a:lnSpc>
              <a:buNone/>
            </a:pPr>
            <a:r>
              <a:rPr lang="en-US" sz="262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测量</a:t>
            </a:r>
            <a:endParaRPr lang="en-US" sz="2625" dirty="0"/>
          </a:p>
        </p:txBody>
      </p:sp>
      <p:sp>
        <p:nvSpPr>
          <p:cNvPr id="9" name="Text 7"/>
          <p:cNvSpPr/>
          <p:nvPr/>
        </p:nvSpPr>
        <p:spPr>
          <a:xfrm>
            <a:off x="4381500" y="2962275"/>
            <a:ext cx="3419856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检验构型、载荷及二元指标阈值等值。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153400" y="2314575"/>
            <a:ext cx="3419856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13"/>
              </a:lnSpc>
              <a:buNone/>
            </a:pPr>
            <a:r>
              <a:rPr lang="en-US" sz="262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比较</a:t>
            </a:r>
            <a:endParaRPr lang="en-US" sz="2625" dirty="0"/>
          </a:p>
        </p:txBody>
      </p:sp>
      <p:sp>
        <p:nvSpPr>
          <p:cNvPr id="11" name="Text 9"/>
          <p:cNvSpPr/>
          <p:nvPr/>
        </p:nvSpPr>
        <p:spPr>
          <a:xfrm>
            <a:off x="8153400" y="2962275"/>
            <a:ext cx="3419856" cy="757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确认可比后，再讨论国家或组织差异。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09600" y="444817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9600" y="4714875"/>
            <a:ext cx="1107567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中国拓展线索：数字服务困难、人口流动与规则熟悉程度。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09600" y="5267325"/>
            <a:ext cx="1107567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foreign-language ≠ 方言；non-native ≠ 外地户籍。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原文第406、413–414页；讲稿第12段自主拓展；Jilke et al. 2015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自主研究设想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下一步应检验合法表达风格如何影响帮助意愿</a:t>
            </a:r>
            <a:endParaRPr lang="en-US" sz="3225" dirty="0"/>
          </a:p>
        </p:txBody>
      </p:sp>
      <p:sp>
        <p:nvSpPr>
          <p:cNvPr id="6" name="Text 4"/>
          <p:cNvSpPr/>
          <p:nvPr/>
        </p:nvSpPr>
        <p:spPr>
          <a:xfrm>
            <a:off x="609600" y="2133600"/>
            <a:ext cx="10972800" cy="571500"/>
          </a:xfrm>
          <a:prstGeom prst="rect">
            <a:avLst/>
          </a:prstGeom>
          <a:solidFill>
            <a:srgbClr val="E7EDD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8200" y="2266950"/>
            <a:ext cx="10687050" cy="351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9"/>
              </a:lnSpc>
              <a:buNone/>
            </a:pPr>
            <a:r>
              <a:rPr lang="en-US" sz="1950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研究设想，未实施：控制相同资格、材料、内容与礼貌程度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609600" y="3057525"/>
            <a:ext cx="3206115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随机改变</a:t>
            </a:r>
            <a:endParaRPr lang="en-US" sz="2325" dirty="0"/>
          </a:p>
        </p:txBody>
      </p:sp>
      <p:sp>
        <p:nvSpPr>
          <p:cNvPr id="9" name="Text 7"/>
          <p:cNvSpPr/>
          <p:nvPr/>
        </p:nvSpPr>
        <p:spPr>
          <a:xfrm>
            <a:off x="609600" y="3590925"/>
            <a:ext cx="4964621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6"/>
              </a:lnSpc>
              <a:buNone/>
            </a:pPr>
            <a:r>
              <a:rPr lang="en-US" sz="20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诉求表达的坚定程度</a:t>
            </a:r>
            <a:endParaRPr lang="en-US" sz="2025" dirty="0"/>
          </a:p>
          <a:p>
            <a:pPr algn="l" indent="0" marL="0">
              <a:lnSpc>
                <a:spcPts val="2876"/>
              </a:lnSpc>
              <a:buNone/>
            </a:pPr>
            <a:r>
              <a:rPr lang="en-US" sz="20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不把正常询问与辱骂威胁混比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6515100" y="3057525"/>
            <a:ext cx="4177665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观察回应</a:t>
            </a:r>
            <a:endParaRPr lang="en-US" sz="2325" dirty="0"/>
          </a:p>
        </p:txBody>
      </p:sp>
      <p:sp>
        <p:nvSpPr>
          <p:cNvPr id="11" name="Text 9"/>
          <p:cNvSpPr/>
          <p:nvPr/>
        </p:nvSpPr>
        <p:spPr>
          <a:xfrm>
            <a:off x="6515100" y="3590925"/>
            <a:ext cx="4964621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6"/>
              </a:lnSpc>
              <a:buNone/>
            </a:pPr>
            <a:r>
              <a:rPr lang="en-US" sz="20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额外解释时间、操作提示</a:t>
            </a:r>
            <a:endParaRPr lang="en-US" sz="2025" dirty="0"/>
          </a:p>
          <a:p>
            <a:pPr algn="l" indent="0" marL="0">
              <a:lnSpc>
                <a:spcPts val="2876"/>
              </a:lnSpc>
              <a:buNone/>
            </a:pPr>
            <a:r>
              <a:rPr lang="en-US" sz="20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工作人员如何理解对方行为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6067425" y="2962275"/>
            <a:ext cx="9525" cy="1828800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9600" y="5095875"/>
            <a:ext cx="11075670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3"/>
              </a:lnSpc>
              <a:buNone/>
            </a:pPr>
            <a:r>
              <a:rPr lang="en-US" sz="187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测量ICTs ≠ 随机操纵ICTs；可以进一步随机加入程序权利提醒。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609600" y="5505450"/>
            <a:ext cx="11075670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3"/>
              </a:lnSpc>
              <a:buNone/>
            </a:pPr>
            <a:r>
              <a:rPr lang="en-US" sz="16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学生课堂模拟不能替代真实工作人员证据。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讲稿第13段自主研究设计；依据本文理论框架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实践启示及自主拓展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公平需要认知干预，也需要流程与组织保障</a:t>
            </a:r>
            <a:endParaRPr lang="en-US" sz="3225" dirty="0"/>
          </a:p>
        </p:txBody>
      </p:sp>
      <p:sp>
        <p:nvSpPr>
          <p:cNvPr id="6" name="Text 4"/>
          <p:cNvSpPr/>
          <p:nvPr/>
        </p:nvSpPr>
        <p:spPr>
          <a:xfrm>
            <a:off x="609600" y="2276475"/>
            <a:ext cx="5100638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作者建议</a:t>
            </a:r>
            <a:endParaRPr lang="en-US" sz="2325" dirty="0"/>
          </a:p>
        </p:txBody>
      </p:sp>
      <p:sp>
        <p:nvSpPr>
          <p:cNvPr id="7" name="Text 5"/>
          <p:cNvSpPr/>
          <p:nvPr/>
        </p:nvSpPr>
        <p:spPr>
          <a:xfrm>
            <a:off x="6515100" y="2276475"/>
            <a:ext cx="5061776" cy="383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3"/>
              </a:lnSpc>
              <a:buNone/>
            </a:pPr>
            <a:r>
              <a:rPr lang="en-US" sz="2325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本汇报拓展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6067425" y="2238375"/>
            <a:ext cx="9525" cy="246697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09600" y="2952750"/>
            <a:ext cx="5061776" cy="1135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反原型信息</a:t>
            </a:r>
            <a:endParaRPr lang="en-US" sz="2100" dirty="0"/>
          </a:p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降低认知负荷</a:t>
            </a:r>
            <a:endParaRPr lang="en-US" sz="2100" dirty="0"/>
          </a:p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反复提醒互动规范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6515100" y="2952750"/>
            <a:ext cx="5061776" cy="1135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清晰说明与数字服务协助</a:t>
            </a:r>
            <a:endParaRPr lang="en-US" sz="2100" dirty="0"/>
          </a:p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申诉、复核与真实待遇记录</a:t>
            </a:r>
            <a:endParaRPr lang="en-US" sz="2100" dirty="0"/>
          </a:p>
          <a:p>
            <a:pPr algn="l" indent="0" marL="0">
              <a:lnSpc>
                <a:spcPts val="2982"/>
              </a:lnSpc>
              <a:buNone/>
            </a:pPr>
            <a:r>
              <a:rPr lang="en-US" sz="210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理解公民的整体处境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09600" y="4800600"/>
            <a:ext cx="11075670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3"/>
              </a:lnSpc>
              <a:buNone/>
            </a:pPr>
            <a:r>
              <a:rPr lang="en-US" sz="187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作者视角｜Public service ecosystem：公民是公共价值共同创造者。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609600" y="5314950"/>
            <a:ext cx="11075670" cy="3381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3"/>
              </a:lnSpc>
              <a:buNone/>
            </a:pPr>
            <a:r>
              <a:rPr lang="en-US" sz="187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好感不能替代程序：即使不喜欢表达方式，也应依法处理合法请求。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原文第413页；讲稿第14段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D5DFC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汇报总结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D5DFC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F6F3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认知结构被看见之后，公平机制才更容易被研究</a:t>
            </a:r>
            <a:endParaRPr lang="en-US" sz="3225" dirty="0"/>
          </a:p>
        </p:txBody>
      </p:sp>
      <p:sp>
        <p:nvSpPr>
          <p:cNvPr id="6" name="Text 4"/>
          <p:cNvSpPr/>
          <p:nvPr/>
        </p:nvSpPr>
        <p:spPr>
          <a:xfrm>
            <a:off x="609600" y="2505075"/>
            <a:ext cx="1102709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F6F3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六个认知原型，不是六类互斥公民。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9600" y="3362325"/>
            <a:ext cx="11027093" cy="439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2475" dirty="0">
                <a:solidFill>
                  <a:srgbClr val="F6F3E9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结构得到验证，真实服务因果后果仍待检验。</a:t>
            </a:r>
            <a:endParaRPr lang="en-US" sz="2475" dirty="0"/>
          </a:p>
        </p:txBody>
      </p:sp>
      <p:sp>
        <p:nvSpPr>
          <p:cNvPr id="8" name="Text 6"/>
          <p:cNvSpPr/>
          <p:nvPr/>
        </p:nvSpPr>
        <p:spPr>
          <a:xfrm>
            <a:off x="609600" y="4191000"/>
            <a:ext cx="11027093" cy="405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95"/>
              </a:lnSpc>
              <a:buNone/>
            </a:pPr>
            <a:r>
              <a:rPr lang="en-US" sz="2250" dirty="0">
                <a:solidFill>
                  <a:srgbClr val="F6F3E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比较研究继续追问：制度、组织、认知与行为如何相连？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09600" y="5295900"/>
            <a:ext cx="11027093" cy="351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9"/>
              </a:lnSpc>
              <a:buNone/>
            </a:pPr>
            <a:r>
              <a:rPr lang="en-US" sz="1950" dirty="0">
                <a:solidFill>
                  <a:srgbClr val="D5DFC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谢谢 · 讨论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6D8A7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D5DFC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讲稿第15段；原文结语第414页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参考文献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备份｜关键参考文献</a:t>
            </a:r>
            <a:endParaRPr lang="en-US" sz="3225" dirty="0"/>
          </a:p>
        </p:txBody>
      </p:sp>
      <p:sp>
        <p:nvSpPr>
          <p:cNvPr id="6" name="Text 4"/>
          <p:cNvSpPr/>
          <p:nvPr/>
        </p:nvSpPr>
        <p:spPr>
          <a:xfrm>
            <a:off x="609600" y="2133600"/>
            <a:ext cx="11172825" cy="31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9"/>
              </a:lnSpc>
              <a:buNone/>
            </a:pPr>
            <a:r>
              <a:rPr lang="en-US" sz="17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Vogel, R., Vogel, D., Liegat, M. C., &amp; Hensel, D. (2025).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609600" y="2571750"/>
            <a:ext cx="11172825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From Social Categorization to Implicit Citizenship Theories: Advancing the Socio-Cognitive Foundations of State–Citizen Interactions.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600" y="3343275"/>
            <a:ext cx="11172825" cy="283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37"/>
              </a:lnSpc>
              <a:buNone/>
            </a:pPr>
            <a:r>
              <a:rPr lang="en-US" sz="157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Public Administration Review, 85(2), 402–418. DOI: 10.1111/puar.13844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609600" y="3848100"/>
            <a:ext cx="3546158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3"/>
              </a:lnSpc>
              <a:buNone/>
            </a:pPr>
            <a:r>
              <a:rPr lang="en-US" sz="165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Lipsky (2010)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095750" y="3848100"/>
            <a:ext cx="7422642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3"/>
              </a:lnSpc>
              <a:buNone/>
            </a:pPr>
            <a:r>
              <a:rPr lang="en-US" sz="165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Street-Level Bureaucracy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09600" y="4257675"/>
            <a:ext cx="3546158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3"/>
              </a:lnSpc>
              <a:buNone/>
            </a:pPr>
            <a:r>
              <a:rPr lang="en-US" sz="165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Jilke &amp; Tummers (2018)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095750" y="4257675"/>
            <a:ext cx="7422642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3"/>
              </a:lnSpc>
              <a:buNone/>
            </a:pPr>
            <a:r>
              <a:rPr lang="en-US" sz="165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Deservingness · 10.1093/jopart/muy002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09600" y="4667250"/>
            <a:ext cx="3546158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3"/>
              </a:lnSpc>
              <a:buNone/>
            </a:pPr>
            <a:r>
              <a:rPr lang="en-US" sz="165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Jilke et al. (2015)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095750" y="4667250"/>
            <a:ext cx="7422642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3"/>
              </a:lnSpc>
              <a:buNone/>
            </a:pPr>
            <a:r>
              <a:rPr lang="en-US" sz="165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测量等价 · 10.1111/puar.12318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09600" y="5076825"/>
            <a:ext cx="3546158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3"/>
              </a:lnSpc>
              <a:buNone/>
            </a:pPr>
            <a:r>
              <a:rPr lang="en-US" sz="165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Osborne et al. (2022)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095750" y="5076825"/>
            <a:ext cx="7422642" cy="2975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3"/>
              </a:lnSpc>
              <a:buNone/>
            </a:pPr>
            <a:r>
              <a:rPr lang="en-US" sz="1650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服务生态系统 · 10.1111/puar.13474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主要文献见原文参考文献，第414–416页；其余拓展以本文引用为阅读线索。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备份数据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备份｜17个最终指标与CFA精确系数</a:t>
            </a:r>
            <a:endParaRPr lang="en-US" sz="322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5812" y="1895475"/>
            <a:ext cx="3058076" cy="38195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82050" y="2152650"/>
            <a:ext cx="2788349" cy="31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9"/>
              </a:lnSpc>
              <a:buNone/>
            </a:pPr>
            <a:r>
              <a:rPr lang="en-US" sz="17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n=860；全部载荷p&lt;.001</a:t>
            </a:r>
            <a:endParaRPr lang="en-US" sz="1725" dirty="0"/>
          </a:p>
        </p:txBody>
      </p:sp>
      <p:sp>
        <p:nvSpPr>
          <p:cNvPr id="8" name="Text 5"/>
          <p:cNvSpPr/>
          <p:nvPr/>
        </p:nvSpPr>
        <p:spPr>
          <a:xfrm>
            <a:off x="8782050" y="3181350"/>
            <a:ext cx="2788349" cy="62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9"/>
              </a:lnSpc>
              <a:buNone/>
            </a:pPr>
            <a:r>
              <a:rPr lang="en-US" sz="17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β为标准化载荷，SE为标准误，z为检验统计量</a:t>
            </a:r>
            <a:endParaRPr lang="en-US" sz="1725" dirty="0"/>
          </a:p>
        </p:txBody>
      </p:sp>
      <p:sp>
        <p:nvSpPr>
          <p:cNvPr id="9" name="Text 6"/>
          <p:cNvSpPr/>
          <p:nvPr/>
        </p:nvSpPr>
        <p:spPr>
          <a:xfrm>
            <a:off x="8782050" y="4210050"/>
            <a:ext cx="2788349" cy="62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9"/>
              </a:lnSpc>
              <a:buNone/>
            </a:pPr>
            <a:r>
              <a:rPr lang="en-US" sz="17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六因子相互相关，模型不是公民好坏单一总分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原文附录B，第418页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备份数据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备份｜四项研究的样本原表</a:t>
            </a:r>
            <a:endParaRPr lang="en-US" sz="322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0070" y="1895475"/>
            <a:ext cx="3689560" cy="38195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82050" y="2152650"/>
            <a:ext cx="2788349" cy="62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9"/>
              </a:lnSpc>
              <a:buNone/>
            </a:pPr>
            <a:r>
              <a:rPr lang="en-US" sz="17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四项独立样本，不能合并为共同接受全部测量的样本</a:t>
            </a:r>
            <a:endParaRPr lang="en-US" sz="1725" dirty="0"/>
          </a:p>
        </p:txBody>
      </p:sp>
      <p:sp>
        <p:nvSpPr>
          <p:cNvPr id="8" name="Text 5"/>
          <p:cNvSpPr/>
          <p:nvPr/>
        </p:nvSpPr>
        <p:spPr>
          <a:xfrm>
            <a:off x="8782050" y="3181350"/>
            <a:ext cx="2788349" cy="93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9"/>
              </a:lnSpc>
              <a:buNone/>
            </a:pPr>
            <a:r>
              <a:rPr lang="en-US" sz="17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研究1a性别人数与百分比原表不一致，照录但不用于推论</a:t>
            </a:r>
            <a:endParaRPr lang="en-US" sz="1725" dirty="0"/>
          </a:p>
        </p:txBody>
      </p:sp>
      <p:sp>
        <p:nvSpPr>
          <p:cNvPr id="9" name="Text 6"/>
          <p:cNvSpPr/>
          <p:nvPr/>
        </p:nvSpPr>
        <p:spPr>
          <a:xfrm>
            <a:off x="8782050" y="4914900"/>
            <a:ext cx="2788349" cy="595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3"/>
              </a:lnSpc>
              <a:buNone/>
            </a:pPr>
            <a:r>
              <a:rPr lang="en-US" sz="1650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原表内容保留；细节可在PDF中放大。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原文表1，第407页；原表内容照录。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备份数据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备份｜EFA原表：34属性与六个因子</a:t>
            </a:r>
            <a:endParaRPr lang="en-US" sz="3225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1743" y="1895475"/>
            <a:ext cx="3746214" cy="38195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82050" y="2152650"/>
            <a:ext cx="2788349" cy="31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9"/>
              </a:lnSpc>
              <a:buNone/>
            </a:pPr>
            <a:r>
              <a:rPr lang="en-US" sz="17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n=611；六因子34属性方案</a:t>
            </a:r>
            <a:endParaRPr lang="en-US" sz="1725" dirty="0"/>
          </a:p>
        </p:txBody>
      </p:sp>
      <p:sp>
        <p:nvSpPr>
          <p:cNvPr id="8" name="Text 5"/>
          <p:cNvSpPr/>
          <p:nvPr/>
        </p:nvSpPr>
        <p:spPr>
          <a:xfrm>
            <a:off x="8782050" y="3181350"/>
            <a:ext cx="2788349" cy="62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9"/>
              </a:lnSpc>
              <a:buNone/>
            </a:pPr>
            <a:r>
              <a:rPr lang="en-US" sz="17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斜体条目进入最终17属性工具</a:t>
            </a:r>
            <a:endParaRPr lang="en-US" sz="1725" dirty="0"/>
          </a:p>
        </p:txBody>
      </p:sp>
      <p:sp>
        <p:nvSpPr>
          <p:cNvPr id="9" name="Text 6"/>
          <p:cNvSpPr/>
          <p:nvPr/>
        </p:nvSpPr>
        <p:spPr>
          <a:xfrm>
            <a:off x="8782050" y="4210050"/>
            <a:ext cx="2788349" cy="62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49"/>
              </a:lnSpc>
              <a:buNone/>
            </a:pPr>
            <a:r>
              <a:rPr lang="en-US" sz="172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原表Kindness含两个负面词；它们未进入最终短版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原文表2，第409页。此页为备份数据，不计入主体30分钟。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3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52425"/>
            <a:ext cx="1095908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北京大学 · 比较公共管理 / 问答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714375"/>
            <a:ext cx="495300" cy="38100"/>
          </a:xfrm>
          <a:prstGeom prst="rect">
            <a:avLst/>
          </a:prstGeom>
          <a:solidFill>
            <a:srgbClr val="2456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904875"/>
            <a:ext cx="11153394" cy="495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02"/>
              </a:lnSpc>
              <a:buNone/>
            </a:pPr>
            <a:r>
              <a:rPr lang="en-US" sz="3225" b="1" dirty="0">
                <a:solidFill>
                  <a:srgbClr val="245642"/>
                </a:solidFill>
                <a:latin typeface="Noto Serif CJK SC" pitchFamily="34" charset="0"/>
                <a:ea typeface="Noto Serif CJK SC" pitchFamily="34" charset="-122"/>
                <a:cs typeface="Noto Serif CJK SC" pitchFamily="34" charset="-120"/>
              </a:rPr>
              <a:t>备份｜容易被问到的证据边界</a:t>
            </a:r>
            <a:endParaRPr lang="en-US" sz="3225" dirty="0"/>
          </a:p>
        </p:txBody>
      </p:sp>
      <p:sp>
        <p:nvSpPr>
          <p:cNvPr id="6" name="Text 4"/>
          <p:cNvSpPr/>
          <p:nvPr/>
        </p:nvSpPr>
        <p:spPr>
          <a:xfrm>
            <a:off x="609600" y="2152650"/>
            <a:ext cx="11172825" cy="392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9"/>
              </a:lnSpc>
              <a:buNone/>
            </a:pPr>
            <a:r>
              <a:rPr lang="en-US" sz="217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六原型≠六类人；RRM≠IAT</a:t>
            </a:r>
            <a:endParaRPr lang="en-US" sz="2175" dirty="0"/>
          </a:p>
        </p:txBody>
      </p:sp>
      <p:sp>
        <p:nvSpPr>
          <p:cNvPr id="7" name="Text 5"/>
          <p:cNvSpPr/>
          <p:nvPr/>
        </p:nvSpPr>
        <p:spPr>
          <a:xfrm>
            <a:off x="609600" y="2667000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838450"/>
            <a:ext cx="11172825" cy="392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9"/>
              </a:lnSpc>
              <a:buNone/>
            </a:pPr>
            <a:r>
              <a:rPr lang="en-US" sz="217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外来性中性≠没有歧视</a:t>
            </a:r>
            <a:endParaRPr lang="en-US" sz="2175" dirty="0"/>
          </a:p>
        </p:txBody>
      </p:sp>
      <p:sp>
        <p:nvSpPr>
          <p:cNvPr id="9" name="Text 7"/>
          <p:cNvSpPr/>
          <p:nvPr/>
        </p:nvSpPr>
        <p:spPr>
          <a:xfrm>
            <a:off x="609600" y="3352800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600" y="3524250"/>
            <a:ext cx="11172825" cy="392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9"/>
              </a:lnSpc>
              <a:buNone/>
            </a:pPr>
            <a:r>
              <a:rPr lang="en-US" sz="2175" dirty="0">
                <a:solidFill>
                  <a:srgbClr val="24564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测量不变性≠组间水平相同</a:t>
            </a:r>
            <a:endParaRPr lang="en-US" sz="2175" dirty="0"/>
          </a:p>
        </p:txBody>
      </p:sp>
      <p:sp>
        <p:nvSpPr>
          <p:cNvPr id="11" name="Text 9"/>
          <p:cNvSpPr/>
          <p:nvPr/>
        </p:nvSpPr>
        <p:spPr>
          <a:xfrm>
            <a:off x="609600" y="4038600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09600" y="4210050"/>
            <a:ext cx="11172825" cy="392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9"/>
              </a:lnSpc>
              <a:buNone/>
            </a:pPr>
            <a:r>
              <a:rPr lang="en-US" sz="217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德国单国研究≠已经完成中德比较</a:t>
            </a:r>
            <a:endParaRPr lang="en-US" sz="2175" dirty="0"/>
          </a:p>
        </p:txBody>
      </p:sp>
      <p:sp>
        <p:nvSpPr>
          <p:cNvPr id="13" name="Text 11"/>
          <p:cNvSpPr/>
          <p:nvPr/>
        </p:nvSpPr>
        <p:spPr>
          <a:xfrm>
            <a:off x="609600" y="4724400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9600" y="4895850"/>
            <a:ext cx="11172825" cy="392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89"/>
              </a:lnSpc>
              <a:buNone/>
            </a:pPr>
            <a:r>
              <a:rPr lang="en-US" sz="2175" dirty="0">
                <a:solidFill>
                  <a:srgbClr val="1D302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1703为四项样本总和，CFA样本只有860</a:t>
            </a:r>
            <a:endParaRPr lang="en-US" sz="2175" dirty="0"/>
          </a:p>
        </p:txBody>
      </p:sp>
      <p:sp>
        <p:nvSpPr>
          <p:cNvPr id="15" name="Text 13"/>
          <p:cNvSpPr/>
          <p:nvPr/>
        </p:nvSpPr>
        <p:spPr>
          <a:xfrm>
            <a:off x="609600" y="5410200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5838825"/>
            <a:ext cx="10972800" cy="9525"/>
          </a:xfrm>
          <a:prstGeom prst="rect">
            <a:avLst/>
          </a:prstGeom>
          <a:solidFill>
            <a:srgbClr val="CAD4C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09600" y="5962650"/>
            <a:ext cx="11192256" cy="194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6"/>
              </a:lnSpc>
              <a:buNone/>
            </a:pPr>
            <a:r>
              <a:rPr lang="en-US" sz="1200" dirty="0">
                <a:solidFill>
                  <a:srgbClr val="536957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根据本文方法与局限，以及现有讲稿备答整理。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内隐公民理论：文献解读与比较公共管理拓展</dc:title>
  <dc:subject>北京大学比较公共管理课程｜AB混搭｜30分钟汇报</dc:subject>
  <dc:creator/>
  <cp:lastModifiedBy>PptxGenJS</cp:lastModifiedBy>
  <cp:revision>1</cp:revision>
  <dcterms:created xsi:type="dcterms:W3CDTF">2026-10-12T20:11:39Z</dcterms:created>
  <dcterms:modified xsi:type="dcterms:W3CDTF">2026-10-12T20:11:39Z</dcterms:modified>
</cp:coreProperties>
</file>